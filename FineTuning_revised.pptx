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2" r:id="rId24"/>
    <p:sldId id="283" r:id="rId25"/>
    <p:sldId id="28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73" dt="2026-09-02T19:48:21.106"/>
    <p1510:client id="{40B9097C-3D1C-7777-9E0D-6A8AC74B279E}" v="3012" dt="2026-08-31T23:09:35.2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4480" y="1366203"/>
            <a:ext cx="9144000" cy="1148080"/>
          </a:xfrm>
        </p:spPr>
        <p:txBody>
          <a:bodyPr>
            <a:normAutofit fontScale="90000"/>
          </a:bodyPr>
          <a:lstStyle/>
          <a:p>
            <a:pPr algn="l"/>
            <a:r>
              <a:rPr lang="en-US" sz="5400" dirty="0"/>
              <a:t>What Fine - Tuning Actually Costs ?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9465" y="3241455"/>
            <a:ext cx="10495470" cy="55042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dirty="0"/>
              <a:t>Applied explanation of Full Finetuning, </a:t>
            </a:r>
            <a:r>
              <a:rPr lang="en-US" dirty="0" err="1"/>
              <a:t>LoRA</a:t>
            </a:r>
            <a:r>
              <a:rPr lang="en-US" dirty="0"/>
              <a:t> &amp; </a:t>
            </a:r>
            <a:r>
              <a:rPr lang="en-US" dirty="0" err="1"/>
              <a:t>QLoRA</a:t>
            </a:r>
            <a:r>
              <a:rPr lang="en-US" dirty="0"/>
              <a:t> practically.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346AE-230E-27BA-81CB-2C1FAE880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767" y="365125"/>
            <a:ext cx="11291976" cy="1325563"/>
          </a:xfrm>
        </p:spPr>
        <p:txBody>
          <a:bodyPr/>
          <a:lstStyle/>
          <a:p>
            <a:r>
              <a:rPr lang="en-US" sz="4000" b="1" dirty="0"/>
              <a:t>Does spending more on </a:t>
            </a:r>
            <a:r>
              <a:rPr lang="en-US" sz="4000" b="1"/>
              <a:t>fine-tuning buy you more?</a:t>
            </a:r>
            <a:endParaRPr lang="en-US" sz="40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B9EB44-D800-F0B7-4E9E-A44B9037BF3E}"/>
              </a:ext>
            </a:extLst>
          </p:cNvPr>
          <p:cNvSpPr/>
          <p:nvPr/>
        </p:nvSpPr>
        <p:spPr>
          <a:xfrm>
            <a:off x="483219" y="2276705"/>
            <a:ext cx="11290608" cy="1347439"/>
          </a:xfrm>
          <a:prstGeom prst="rect">
            <a:avLst/>
          </a:prstGeom>
          <a:solidFill>
            <a:srgbClr val="F5F5F5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A0A47A-E8FF-F73D-6E3E-16E00F33C8BF}"/>
              </a:ext>
            </a:extLst>
          </p:cNvPr>
          <p:cNvSpPr txBox="1"/>
          <p:nvPr/>
        </p:nvSpPr>
        <p:spPr>
          <a:xfrm>
            <a:off x="594731" y="1393902"/>
            <a:ext cx="1107873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Full fine-tuning updates all 7.62 billion parameters. </a:t>
            </a:r>
            <a:r>
              <a:rPr lang="en-US" err="1"/>
              <a:t>LoRA</a:t>
            </a:r>
            <a:r>
              <a:rPr lang="en-US" dirty="0"/>
              <a:t> updates 0.03%. </a:t>
            </a:r>
            <a:r>
              <a:rPr lang="en-US" err="1"/>
              <a:t>QLoRA</a:t>
            </a:r>
            <a:r>
              <a:rPr lang="en-US" dirty="0"/>
              <a:t> does the same on a 4-bit base. The obvious assumption is that the </a:t>
            </a:r>
            <a:r>
              <a:rPr lang="en-US"/>
              <a:t>expensive one is the good one.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AC6DF4-9D9B-042C-FED8-A03206B35D46}"/>
              </a:ext>
            </a:extLst>
          </p:cNvPr>
          <p:cNvSpPr txBox="1"/>
          <p:nvPr/>
        </p:nvSpPr>
        <p:spPr>
          <a:xfrm>
            <a:off x="762000" y="2527609"/>
            <a:ext cx="1064197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So, we ran all three, at five ranks each, on identical data with identical seeds – eleven experiments, one variable at a time – and evaluated every one by </a:t>
            </a:r>
            <a:r>
              <a:rPr lang="en-US"/>
              <a:t>executing the SQL it produced against the real </a:t>
            </a:r>
            <a:r>
              <a:rPr lang="en-US" dirty="0"/>
              <a:t>database.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C2690A-BA77-2B05-7C6D-D5991AB28FC7}"/>
              </a:ext>
            </a:extLst>
          </p:cNvPr>
          <p:cNvSpPr txBox="1"/>
          <p:nvPr/>
        </p:nvSpPr>
        <p:spPr>
          <a:xfrm>
            <a:off x="501805" y="4088780"/>
            <a:ext cx="1116236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No, not here: full fine-tuning scored lowest. The interesting part is what </a:t>
            </a:r>
            <a:r>
              <a:rPr lang="en-US" b="1">
                <a:solidFill>
                  <a:srgbClr val="7030A0"/>
                </a:solidFill>
              </a:rPr>
              <a:t>it</a:t>
            </a:r>
            <a:r>
              <a:rPr lang="en-US" b="1" dirty="0">
                <a:solidFill>
                  <a:srgbClr val="7030A0"/>
                </a:solidFill>
              </a:rPr>
              <a:t> costs to find out.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F66348-7557-E1DB-E4E6-1E79C0FCD71C}"/>
              </a:ext>
            </a:extLst>
          </p:cNvPr>
          <p:cNvSpPr/>
          <p:nvPr/>
        </p:nvSpPr>
        <p:spPr>
          <a:xfrm>
            <a:off x="520388" y="4469781"/>
            <a:ext cx="11299903" cy="8456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B691D6-B317-272A-B8E5-1D956E158E4C}"/>
              </a:ext>
            </a:extLst>
          </p:cNvPr>
          <p:cNvSpPr txBox="1"/>
          <p:nvPr/>
        </p:nvSpPr>
        <p:spPr>
          <a:xfrm>
            <a:off x="585439" y="4609171"/>
            <a:ext cx="1112519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Execution accuracy, not text match. A generated query that reads differently from the reference but returns </a:t>
            </a:r>
            <a:r>
              <a:rPr lang="en-US" dirty="0" err="1"/>
              <a:t>the same</a:t>
            </a:r>
            <a:r>
              <a:rPr lang="en-US" dirty="0"/>
              <a:t> rows is correct – and as slide 13 shows, that distinction changes the conclusion.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914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CD7CF-AC3F-9347-FF1E-F2B9D3F32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834" y="365125"/>
            <a:ext cx="9865113" cy="582149"/>
          </a:xfrm>
        </p:spPr>
        <p:txBody>
          <a:bodyPr>
            <a:normAutofit fontScale="90000"/>
          </a:bodyPr>
          <a:lstStyle/>
          <a:p>
            <a:r>
              <a:rPr lang="en-US" b="1"/>
              <a:t>Qwen2.5-7B-Instruct, by the numbers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AD90141-887B-24F0-F92B-497F8BAA83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7465" y="1184430"/>
            <a:ext cx="9717070" cy="449072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C9F0092-F404-8B93-A4FC-97A189594A67}"/>
              </a:ext>
            </a:extLst>
          </p:cNvPr>
          <p:cNvSpPr/>
          <p:nvPr/>
        </p:nvSpPr>
        <p:spPr>
          <a:xfrm>
            <a:off x="529685" y="5677829"/>
            <a:ext cx="10876153" cy="8307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7CCECA-C2C7-119F-3236-139EB3FB6945}"/>
              </a:ext>
            </a:extLst>
          </p:cNvPr>
          <p:cNvSpPr txBox="1"/>
          <p:nvPr/>
        </p:nvSpPr>
        <p:spPr>
          <a:xfrm>
            <a:off x="557561" y="5677828"/>
            <a:ext cx="10697732" cy="6033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err="1"/>
              <a:t>LoRA</a:t>
            </a:r>
            <a:r>
              <a:rPr lang="en-US" sz="1600" dirty="0"/>
              <a:t> adapts the attention block only – 10.8% of the model – and within that, a rank-2 correction is 0.033%of the whole. The feed-forward network, 87% of </a:t>
            </a:r>
            <a:r>
              <a:rPr lang="en-US" sz="1600"/>
              <a:t>every layer, is never touched.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89206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9ADBD-2C2B-5205-4757-9A02EEF7D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78" y="402296"/>
            <a:ext cx="11054575" cy="730832"/>
          </a:xfrm>
        </p:spPr>
        <p:txBody>
          <a:bodyPr>
            <a:normAutofit/>
          </a:bodyPr>
          <a:lstStyle/>
          <a:p>
            <a:r>
              <a:rPr lang="en-US" sz="3600" b="1" dirty="0"/>
              <a:t>Why the four adapted matrices aren't the same </a:t>
            </a:r>
            <a:r>
              <a:rPr lang="en-US" sz="3600" b="1"/>
              <a:t>size</a:t>
            </a:r>
            <a:endParaRPr lang="en-US" sz="3600" b="1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4658218-6D84-0AAA-38A8-4BFA55D373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63788"/>
            <a:ext cx="10515600" cy="434130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D2E2E53-CC20-5617-0589-3AFD93397C81}"/>
              </a:ext>
            </a:extLst>
          </p:cNvPr>
          <p:cNvSpPr/>
          <p:nvPr/>
        </p:nvSpPr>
        <p:spPr>
          <a:xfrm>
            <a:off x="724830" y="5603487"/>
            <a:ext cx="10736764" cy="970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7A5C18-FE0E-E52F-A056-751BE5801FD3}"/>
              </a:ext>
            </a:extLst>
          </p:cNvPr>
          <p:cNvSpPr txBox="1"/>
          <p:nvPr/>
        </p:nvSpPr>
        <p:spPr>
          <a:xfrm>
            <a:off x="966439" y="5761462"/>
            <a:ext cx="1021451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Owen2.5-7B uses grouped-query attention: 28 query heads but only 4 key/value heads. That is why </a:t>
            </a:r>
            <a:r>
              <a:rPr lang="en-US" dirty="0" err="1"/>
              <a:t>q_proj</a:t>
            </a:r>
            <a:r>
              <a:rPr lang="en-US" dirty="0"/>
              <a:t> and </a:t>
            </a:r>
            <a:r>
              <a:rPr lang="en-US" dirty="0" err="1"/>
              <a:t>o_proj</a:t>
            </a:r>
            <a:r>
              <a:rPr lang="en-US" dirty="0"/>
              <a:t> are 3584*3584 while </a:t>
            </a:r>
            <a:r>
              <a:rPr lang="en-US" dirty="0" err="1"/>
              <a:t>k_proj</a:t>
            </a:r>
            <a:r>
              <a:rPr lang="en-US" dirty="0"/>
              <a:t> and </a:t>
            </a:r>
            <a:r>
              <a:rPr lang="en-US" dirty="0" err="1"/>
              <a:t>v_proj</a:t>
            </a:r>
            <a:r>
              <a:rPr lang="en-US"/>
              <a:t> are 512*3584 – seven times smaller.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290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94431-AFE6-B00B-50B7-FE3E6E4D8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322" y="365125"/>
            <a:ext cx="10924478" cy="935271"/>
          </a:xfrm>
        </p:spPr>
        <p:txBody>
          <a:bodyPr/>
          <a:lstStyle/>
          <a:p>
            <a:r>
              <a:rPr lang="en-US" sz="3600" b="1" dirty="0"/>
              <a:t>Full fine-tuning hits a wall you can </a:t>
            </a:r>
            <a:r>
              <a:rPr lang="en-US" sz="3600" b="1"/>
              <a:t>measure</a:t>
            </a:r>
            <a:endParaRPr lang="en-US" sz="3600" b="1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90920C7-9088-2457-F13A-B9B88C526F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8395" y="1302376"/>
            <a:ext cx="8954431" cy="37437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20A287-B7D2-166D-22E3-168D9BAE4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231" y="5044765"/>
            <a:ext cx="3633904" cy="10988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91EFAB-77AF-37C0-206F-351597A8F70C}"/>
              </a:ext>
            </a:extLst>
          </p:cNvPr>
          <p:cNvSpPr txBox="1"/>
          <p:nvPr/>
        </p:nvSpPr>
        <p:spPr>
          <a:xfrm>
            <a:off x="1087242" y="5547731"/>
            <a:ext cx="182136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peak memory </a:t>
            </a:r>
          </a:p>
          <a:p>
            <a:r>
              <a:rPr lang="en-US"/>
              <a:t>full fine-tuning</a:t>
            </a:r>
          </a:p>
          <a:p>
            <a:pPr algn="ctr"/>
            <a:endParaRPr lang="en-US"/>
          </a:p>
        </p:txBody>
      </p:sp>
      <p:pic>
        <p:nvPicPr>
          <p:cNvPr id="7" name="Picture 6" descr="A white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9B123731-5019-05FF-6FBA-F551D885E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8645" y="5044765"/>
            <a:ext cx="3633904" cy="1098860"/>
          </a:xfrm>
          <a:prstGeom prst="rect">
            <a:avLst/>
          </a:prstGeom>
        </p:spPr>
      </p:pic>
      <p:pic>
        <p:nvPicPr>
          <p:cNvPr id="8" name="Picture 7" descr="A white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130CDC89-4EB6-2E41-69D2-583A53C3D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2183" y="5044765"/>
            <a:ext cx="3633904" cy="10988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BED94D-A257-6EDD-4929-DC18C3F6D720}"/>
              </a:ext>
            </a:extLst>
          </p:cNvPr>
          <p:cNvSpPr txBox="1"/>
          <p:nvPr/>
        </p:nvSpPr>
        <p:spPr>
          <a:xfrm>
            <a:off x="5334000" y="5575610"/>
            <a:ext cx="281568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checkpoint</a:t>
            </a:r>
          </a:p>
          <a:p>
            <a:r>
              <a:rPr lang="en-US"/>
              <a:t>per task</a:t>
            </a:r>
          </a:p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6A2F59-81EC-8A9A-6B48-A785BF73221E}"/>
              </a:ext>
            </a:extLst>
          </p:cNvPr>
          <p:cNvSpPr txBox="1"/>
          <p:nvPr/>
        </p:nvSpPr>
        <p:spPr>
          <a:xfrm flipH="1">
            <a:off x="9227634" y="5574319"/>
            <a:ext cx="165409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training time</a:t>
            </a:r>
          </a:p>
          <a:p>
            <a:r>
              <a:rPr lang="en-US"/>
              <a:t>on an H200</a:t>
            </a:r>
          </a:p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2E279F-F115-DCDC-00C6-E961C65226B1}"/>
              </a:ext>
            </a:extLst>
          </p:cNvPr>
          <p:cNvSpPr txBox="1"/>
          <p:nvPr/>
        </p:nvSpPr>
        <p:spPr>
          <a:xfrm>
            <a:off x="1338146" y="5045927"/>
            <a:ext cx="1709854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rgbClr val="C00000"/>
                </a:solidFill>
              </a:rPr>
              <a:t>76.4 GB</a:t>
            </a:r>
          </a:p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16A1BB-DFB6-2C87-0B27-C2D3F83ECC86}"/>
              </a:ext>
            </a:extLst>
          </p:cNvPr>
          <p:cNvSpPr txBox="1"/>
          <p:nvPr/>
        </p:nvSpPr>
        <p:spPr>
          <a:xfrm>
            <a:off x="5315415" y="5073805"/>
            <a:ext cx="143107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C00000"/>
                </a:solidFill>
              </a:rPr>
              <a:t>15.24 GB</a:t>
            </a:r>
          </a:p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F52863-4417-C851-0A6C-FE5F3C6F8CDB}"/>
              </a:ext>
            </a:extLst>
          </p:cNvPr>
          <p:cNvSpPr txBox="1"/>
          <p:nvPr/>
        </p:nvSpPr>
        <p:spPr>
          <a:xfrm>
            <a:off x="9283391" y="5055219"/>
            <a:ext cx="184924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87 min</a:t>
            </a:r>
          </a:p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36BE1B-8D0F-D0F6-EF5A-D3B352959803}"/>
              </a:ext>
            </a:extLst>
          </p:cNvPr>
          <p:cNvSpPr txBox="1"/>
          <p:nvPr/>
        </p:nvSpPr>
        <p:spPr>
          <a:xfrm>
            <a:off x="446050" y="6309730"/>
            <a:ext cx="11171661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ea typeface="+mn-lt"/>
                <a:cs typeface="+mn-lt"/>
              </a:rPr>
              <a:t>Figure 1. Peak allocated memory, measured. Full fine-tuning needs a card most people don't have; both adapter methods fit comfortably on a 24 GB one.</a:t>
            </a:r>
            <a:endParaRPr lang="en-US" sz="120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351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0621B-1D7E-0794-3001-0FE7A4773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Freeze the </a:t>
            </a:r>
            <a:r>
              <a:rPr lang="en-US" sz="3200" b="1"/>
              <a:t>model, train a low-rank correction</a:t>
            </a:r>
            <a:endParaRPr lang="en-US" sz="32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CB6830-DA0E-77CD-C9EC-93B296D47AA8}"/>
              </a:ext>
            </a:extLst>
          </p:cNvPr>
          <p:cNvSpPr/>
          <p:nvPr/>
        </p:nvSpPr>
        <p:spPr>
          <a:xfrm>
            <a:off x="836342" y="1421781"/>
            <a:ext cx="10327887" cy="92369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E07119-6376-D3C3-278C-3A6DF3033CB0}"/>
              </a:ext>
            </a:extLst>
          </p:cNvPr>
          <p:cNvSpPr txBox="1"/>
          <p:nvPr/>
        </p:nvSpPr>
        <p:spPr>
          <a:xfrm>
            <a:off x="1115122" y="1719145"/>
            <a:ext cx="78820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i="1" dirty="0">
                <a:solidFill>
                  <a:schemeClr val="bg1"/>
                </a:solidFill>
                <a:latin typeface="Sagona Book"/>
              </a:rPr>
              <a:t>h = </a:t>
            </a:r>
            <a:r>
              <a:rPr lang="en-US" b="1" i="1" dirty="0" err="1">
                <a:solidFill>
                  <a:schemeClr val="bg1"/>
                </a:solidFill>
                <a:latin typeface="Sagona Book"/>
              </a:rPr>
              <a:t>W₀x</a:t>
            </a:r>
            <a:r>
              <a:rPr lang="en-US" b="1" i="1" dirty="0">
                <a:solidFill>
                  <a:schemeClr val="bg1"/>
                </a:solidFill>
                <a:latin typeface="Sagona Book"/>
              </a:rPr>
              <a:t> + </a:t>
            </a:r>
            <a:r>
              <a:rPr lang="el-GR" b="1" i="1" dirty="0">
                <a:solidFill>
                  <a:schemeClr val="bg1"/>
                </a:solidFill>
                <a:latin typeface="Palatino Linotype"/>
              </a:rPr>
              <a:t>Δ</a:t>
            </a:r>
            <a:r>
              <a:rPr lang="en-US" b="1" i="1" dirty="0" err="1">
                <a:solidFill>
                  <a:schemeClr val="bg1"/>
                </a:solidFill>
                <a:latin typeface="Sagona Book"/>
              </a:rPr>
              <a:t>Wx</a:t>
            </a:r>
            <a:r>
              <a:rPr lang="en-US" b="1" i="1" dirty="0">
                <a:solidFill>
                  <a:schemeClr val="bg1"/>
                </a:solidFill>
                <a:latin typeface="Sagona Book"/>
              </a:rPr>
              <a:t>        </a:t>
            </a:r>
            <a:r>
              <a:rPr lang="el-GR" b="1" i="1" dirty="0">
                <a:solidFill>
                  <a:schemeClr val="bg1"/>
                </a:solidFill>
                <a:latin typeface="Palatino Linotype"/>
              </a:rPr>
              <a:t>Δ</a:t>
            </a:r>
            <a:r>
              <a:rPr lang="en-US" b="1" i="1" dirty="0">
                <a:solidFill>
                  <a:schemeClr val="bg1"/>
                </a:solidFill>
                <a:latin typeface="Sagona Book"/>
              </a:rPr>
              <a:t>W = B · A        B </a:t>
            </a:r>
            <a:r>
              <a:rPr lang="en-US" b="1" dirty="0">
                <a:solidFill>
                  <a:schemeClr val="bg1"/>
                </a:solidFill>
                <a:latin typeface="Sagona Book"/>
              </a:rPr>
              <a:t>∈</a:t>
            </a:r>
            <a:r>
              <a:rPr lang="en-US" b="1" i="1" dirty="0">
                <a:solidFill>
                  <a:schemeClr val="bg1"/>
                </a:solidFill>
                <a:latin typeface="Sagona Book"/>
              </a:rPr>
              <a:t> ℝ^(</a:t>
            </a:r>
            <a:r>
              <a:rPr lang="en-US" b="1" i="1" dirty="0" err="1">
                <a:solidFill>
                  <a:schemeClr val="bg1"/>
                </a:solidFill>
                <a:latin typeface="Sagona Book"/>
              </a:rPr>
              <a:t>d×r</a:t>
            </a:r>
            <a:r>
              <a:rPr lang="en-US" b="1" i="1" dirty="0">
                <a:solidFill>
                  <a:schemeClr val="bg1"/>
                </a:solidFill>
                <a:latin typeface="Sagona Book"/>
              </a:rPr>
              <a:t>),  A </a:t>
            </a:r>
            <a:r>
              <a:rPr lang="en-US" b="1" dirty="0">
                <a:solidFill>
                  <a:schemeClr val="bg1"/>
                </a:solidFill>
                <a:latin typeface="Sagona Book"/>
              </a:rPr>
              <a:t>∈</a:t>
            </a:r>
            <a:r>
              <a:rPr lang="en-US" b="1" i="1" dirty="0">
                <a:solidFill>
                  <a:schemeClr val="bg1"/>
                </a:solidFill>
                <a:latin typeface="Sagona Book"/>
              </a:rPr>
              <a:t> ℝ^(</a:t>
            </a:r>
            <a:r>
              <a:rPr lang="en-US" b="1" i="1" dirty="0" err="1">
                <a:solidFill>
                  <a:schemeClr val="bg1"/>
                </a:solidFill>
                <a:latin typeface="Sagona Book"/>
              </a:rPr>
              <a:t>r×d</a:t>
            </a:r>
            <a:r>
              <a:rPr lang="en-US" b="1" i="1" dirty="0">
                <a:solidFill>
                  <a:schemeClr val="bg1"/>
                </a:solidFill>
                <a:latin typeface="Sagona Book"/>
              </a:rPr>
              <a:t>),  r </a:t>
            </a:r>
            <a:r>
              <a:rPr lang="en-US" b="1" dirty="0">
                <a:solidFill>
                  <a:schemeClr val="bg1"/>
                </a:solidFill>
                <a:latin typeface="Sagona Book"/>
              </a:rPr>
              <a:t>≪</a:t>
            </a:r>
            <a:r>
              <a:rPr lang="en-US" b="1" i="1" dirty="0">
                <a:solidFill>
                  <a:schemeClr val="bg1"/>
                </a:solidFill>
                <a:latin typeface="Sagona Book"/>
              </a:rPr>
              <a:t> d</a:t>
            </a:r>
            <a:endParaRPr lang="en-US" b="1" dirty="0">
              <a:solidFill>
                <a:schemeClr val="bg1"/>
              </a:solidFill>
              <a:latin typeface="Sagona Book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F62E01-7A89-2FBD-C651-7C9D2CD9383F}"/>
              </a:ext>
            </a:extLst>
          </p:cNvPr>
          <p:cNvSpPr txBox="1"/>
          <p:nvPr/>
        </p:nvSpPr>
        <p:spPr>
          <a:xfrm>
            <a:off x="1672682" y="2973658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FF4E0B-DA85-26E0-32FE-5CEFA5ED7ACF}"/>
              </a:ext>
            </a:extLst>
          </p:cNvPr>
          <p:cNvSpPr txBox="1"/>
          <p:nvPr/>
        </p:nvSpPr>
        <p:spPr>
          <a:xfrm>
            <a:off x="1115122" y="2601951"/>
            <a:ext cx="65996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W₀</a:t>
            </a:r>
            <a:r>
              <a:rPr lang="en-US" b="1"/>
              <a:t>             </a:t>
            </a:r>
            <a:r>
              <a:rPr lang="en-US"/>
              <a:t>the pretrained weight – frozen, never updated          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98F872-3C1F-C237-6380-0B7C6A45BE33}"/>
              </a:ext>
            </a:extLst>
          </p:cNvPr>
          <p:cNvSpPr txBox="1"/>
          <p:nvPr/>
        </p:nvSpPr>
        <p:spPr>
          <a:xfrm>
            <a:off x="1115121" y="3159511"/>
            <a:ext cx="636734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B </a:t>
            </a:r>
            <a:r>
              <a:rPr lang="en-US"/>
              <a:t>                trainable, initialized</a:t>
            </a:r>
            <a:r>
              <a:rPr lang="en-US" dirty="0"/>
              <a:t> to zeros – so </a:t>
            </a:r>
            <a:r>
              <a:rPr lang="en-US" dirty="0">
                <a:ea typeface="+mn-lt"/>
                <a:cs typeface="+mn-lt"/>
              </a:rPr>
              <a:t>ΔW = 0 at step one</a:t>
            </a:r>
            <a:endParaRPr lang="en-US" dirty="0"/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21F973-8B00-BD21-71A3-9121D96EF037}"/>
              </a:ext>
            </a:extLst>
          </p:cNvPr>
          <p:cNvSpPr txBox="1"/>
          <p:nvPr/>
        </p:nvSpPr>
        <p:spPr>
          <a:xfrm>
            <a:off x="1115122" y="3661317"/>
            <a:ext cx="675763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A</a:t>
            </a:r>
            <a:r>
              <a:rPr lang="en-US" dirty="0"/>
              <a:t>                 trainable, small random </a:t>
            </a:r>
            <a:r>
              <a:rPr lang="en-US" dirty="0" err="1"/>
              <a:t>init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D2D974-F76C-28BB-AC2B-3930D9A2BD0C}"/>
              </a:ext>
            </a:extLst>
          </p:cNvPr>
          <p:cNvSpPr txBox="1"/>
          <p:nvPr/>
        </p:nvSpPr>
        <p:spPr>
          <a:xfrm>
            <a:off x="1115121" y="4218877"/>
            <a:ext cx="58655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r </a:t>
            </a:r>
            <a:r>
              <a:rPr lang="en-US"/>
              <a:t>                 the rank. This sweep tests r = 4, 8, 16, 32, 64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6421B6-E6DD-2FF1-B470-3F6D02BF7C28}"/>
              </a:ext>
            </a:extLst>
          </p:cNvPr>
          <p:cNvSpPr/>
          <p:nvPr/>
        </p:nvSpPr>
        <p:spPr>
          <a:xfrm>
            <a:off x="836342" y="4980877"/>
            <a:ext cx="10495155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883A0D-0E5A-4672-B50E-77309DAF1221}"/>
              </a:ext>
            </a:extLst>
          </p:cNvPr>
          <p:cNvSpPr txBox="1"/>
          <p:nvPr/>
        </p:nvSpPr>
        <p:spPr>
          <a:xfrm>
            <a:off x="1105828" y="5166731"/>
            <a:ext cx="9805639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ea typeface="+mn-lt"/>
                <a:cs typeface="+mn-lt"/>
              </a:rPr>
              <a:t>At r=4 on this model that is 2,523,136 trainable parameters against 7,615,616,512 — 0.033%, a 3,018× reduction.</a:t>
            </a:r>
            <a:endParaRPr lang="en-US" sz="160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619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E1FF0-E080-FE17-C5B3-6720C1160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908" y="225737"/>
            <a:ext cx="10840844" cy="99102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200" b="1" dirty="0">
                <a:ea typeface="+mj-lt"/>
                <a:cs typeface="+mj-lt"/>
              </a:rPr>
              <a:t>The arithmetic behind the </a:t>
            </a:r>
            <a:r>
              <a:rPr lang="en-US" sz="3200" b="1">
                <a:ea typeface="+mj-lt"/>
                <a:cs typeface="+mj-lt"/>
              </a:rPr>
              <a:t>saving</a:t>
            </a:r>
            <a:endParaRPr lang="en-US" sz="3200" b="1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8ADFEB2-9A5A-A22C-8A9E-822C7A7215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5124" y="1221601"/>
            <a:ext cx="9801751" cy="435133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B448E53-AC73-8E05-6D3E-FD20D69C9E96}"/>
              </a:ext>
            </a:extLst>
          </p:cNvPr>
          <p:cNvSpPr/>
          <p:nvPr/>
        </p:nvSpPr>
        <p:spPr>
          <a:xfrm>
            <a:off x="910683" y="5426926"/>
            <a:ext cx="10430106" cy="97015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9ED918-8AA1-4108-B82B-E30C543AE38D}"/>
              </a:ext>
            </a:extLst>
          </p:cNvPr>
          <p:cNvSpPr txBox="1"/>
          <p:nvPr/>
        </p:nvSpPr>
        <p:spPr>
          <a:xfrm>
            <a:off x="892098" y="5557025"/>
            <a:ext cx="10418954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ea typeface="+mn-lt"/>
                <a:cs typeface="+mn-lt"/>
              </a:rPr>
              <a:t>Constraining ΔW to rank r replaces a </a:t>
            </a:r>
            <a:r>
              <a:rPr lang="en-US" sz="1600" dirty="0" err="1">
                <a:ea typeface="+mn-lt"/>
                <a:cs typeface="+mn-lt"/>
              </a:rPr>
              <a:t>d×k</a:t>
            </a:r>
            <a:r>
              <a:rPr lang="en-US" sz="1600" dirty="0">
                <a:ea typeface="+mn-lt"/>
                <a:cs typeface="+mn-lt"/>
              </a:rPr>
              <a:t> grid of free parameters with two thin factors. The cost stops scaling with the area of the matrix and starts scaling with its perimeter.</a:t>
            </a:r>
            <a:endParaRPr lang="en-US" sz="160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503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85530-4529-7BE0-7B32-868A86BA0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420" y="420882"/>
            <a:ext cx="9586332" cy="1009612"/>
          </a:xfrm>
        </p:spPr>
        <p:txBody>
          <a:bodyPr/>
          <a:lstStyle/>
          <a:p>
            <a:r>
              <a:rPr lang="en-US" sz="3600" b="1" dirty="0">
                <a:ea typeface="+mj-lt"/>
                <a:cs typeface="+mj-lt"/>
              </a:rPr>
              <a:t>Why it trains stably: scaling and </a:t>
            </a:r>
            <a:r>
              <a:rPr lang="en-US" sz="3600" b="1" dirty="0" err="1">
                <a:ea typeface="+mj-lt"/>
                <a:cs typeface="+mj-lt"/>
              </a:rPr>
              <a:t>initialisation</a:t>
            </a:r>
            <a:endParaRPr lang="en-US" sz="3600" dirty="0" err="1"/>
          </a:p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DACC1D4-6EF6-CED7-14D3-5F627F4E95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30497"/>
            <a:ext cx="10515600" cy="41751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AD4758-F3DD-821C-2443-3F7BD59A76D7}"/>
              </a:ext>
            </a:extLst>
          </p:cNvPr>
          <p:cNvSpPr txBox="1"/>
          <p:nvPr/>
        </p:nvSpPr>
        <p:spPr>
          <a:xfrm>
            <a:off x="557561" y="5891561"/>
            <a:ext cx="10270272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ea typeface="+mn-lt"/>
                <a:cs typeface="+mn-lt"/>
              </a:rPr>
              <a:t>Figure 4. Both details are in this sweep's configuration: α = 2r at every rank, and PEFT's default zero-</a:t>
            </a:r>
            <a:r>
              <a:rPr lang="en-US" sz="1600" dirty="0" err="1">
                <a:ea typeface="+mn-lt"/>
                <a:cs typeface="+mn-lt"/>
              </a:rPr>
              <a:t>init</a:t>
            </a:r>
            <a:r>
              <a:rPr lang="en-US" sz="1600" dirty="0">
                <a:ea typeface="+mn-lt"/>
                <a:cs typeface="+mn-lt"/>
              </a:rPr>
              <a:t> on B.</a:t>
            </a:r>
            <a:endParaRPr lang="en-US" sz="160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969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443CC-EF02-AC06-740A-C160CDC91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322" y="179271"/>
            <a:ext cx="8749991" cy="768003"/>
          </a:xfrm>
        </p:spPr>
        <p:txBody>
          <a:bodyPr>
            <a:normAutofit/>
          </a:bodyPr>
          <a:lstStyle/>
          <a:p>
            <a:r>
              <a:rPr lang="en-US" sz="3200" b="1">
                <a:ea typeface="+mj-lt"/>
                <a:cs typeface="+mj-lt"/>
              </a:rPr>
              <a:t>What that looks like on a real matrix</a:t>
            </a:r>
            <a:endParaRPr lang="en-US" sz="320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19ADC11-F1CB-4780-083C-70FF99ED54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6590" y="1104693"/>
            <a:ext cx="10515600" cy="400900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9204177-B44E-9798-7DC8-48C39810178C}"/>
              </a:ext>
            </a:extLst>
          </p:cNvPr>
          <p:cNvSpPr/>
          <p:nvPr/>
        </p:nvSpPr>
        <p:spPr>
          <a:xfrm>
            <a:off x="594732" y="5352585"/>
            <a:ext cx="10783228" cy="9144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484104-B6B1-285F-60F8-9F73AD7D1259}"/>
              </a:ext>
            </a:extLst>
          </p:cNvPr>
          <p:cNvSpPr txBox="1"/>
          <p:nvPr/>
        </p:nvSpPr>
        <p:spPr>
          <a:xfrm>
            <a:off x="631902" y="5501268"/>
            <a:ext cx="10744198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 err="1">
                <a:ea typeface="+mn-lt"/>
                <a:cs typeface="+mn-lt"/>
              </a:rPr>
              <a:t>q_proj</a:t>
            </a:r>
            <a:r>
              <a:rPr lang="en-US" sz="1600" dirty="0">
                <a:ea typeface="+mn-lt"/>
                <a:cs typeface="+mn-lt"/>
              </a:rPr>
              <a:t> alone holds 12.8M parameters. The rank-4 correction that adapts it holds 28,672 — and the dense ΔW on the right is never </a:t>
            </a:r>
            <a:r>
              <a:rPr lang="en-US" sz="1600" dirty="0" err="1">
                <a:ea typeface="+mn-lt"/>
                <a:cs typeface="+mn-lt"/>
              </a:rPr>
              <a:t>materialised</a:t>
            </a:r>
            <a:r>
              <a:rPr lang="en-US" sz="1600" dirty="0">
                <a:ea typeface="+mn-lt"/>
                <a:cs typeface="+mn-lt"/>
              </a:rPr>
              <a:t>; only B and A are stored.</a:t>
            </a:r>
            <a:endParaRPr lang="en-US" sz="160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759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E52EC-8EDD-D8E2-7B22-0494A1802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171" y="-2169"/>
            <a:ext cx="8432435" cy="985678"/>
          </a:xfrm>
        </p:spPr>
        <p:txBody>
          <a:bodyPr/>
          <a:lstStyle/>
          <a:p>
            <a:r>
              <a:rPr lang="en-US" sz="3600" b="1" dirty="0">
                <a:ea typeface="+mj-lt"/>
                <a:cs typeface="+mj-lt"/>
              </a:rPr>
              <a:t>Which matrices actually get adapted</a:t>
            </a:r>
            <a:endParaRPr lang="en-US" sz="36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E79E89F-9B9D-2D43-ED72-934A81A8BA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3558" y="1250013"/>
            <a:ext cx="9464884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1C5408-C3FD-EBD6-032A-90CC1B5BEFFA}"/>
              </a:ext>
            </a:extLst>
          </p:cNvPr>
          <p:cNvSpPr txBox="1"/>
          <p:nvPr/>
        </p:nvSpPr>
        <p:spPr>
          <a:xfrm>
            <a:off x="534296" y="5600346"/>
            <a:ext cx="1111423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+mn-lt"/>
                <a:cs typeface="+mn-lt"/>
              </a:rPr>
              <a:t>Figure 3. Real shapes from the model's own config. The feed-forward network — by far the largest block of parameters — is left untouched, which is a large part of why the trainable count is so small.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411085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BAD25-FFEB-811F-09AE-D53F103A8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590" y="569564"/>
            <a:ext cx="8526966" cy="879515"/>
          </a:xfrm>
        </p:spPr>
        <p:txBody>
          <a:bodyPr/>
          <a:lstStyle/>
          <a:p>
            <a:r>
              <a:rPr lang="en-US" sz="3600" b="1">
                <a:ea typeface="+mj-lt"/>
                <a:cs typeface="+mj-lt"/>
              </a:rPr>
              <a:t>And it costs nothing at inference</a:t>
            </a:r>
            <a:endParaRPr lang="en-US" sz="3600"/>
          </a:p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E9F381F-0C3B-0829-0CDE-7CCE457A54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6590" y="1246643"/>
            <a:ext cx="10515600" cy="296310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4742103-F5E5-6B7B-CE38-251CE1B8234D}"/>
              </a:ext>
            </a:extLst>
          </p:cNvPr>
          <p:cNvSpPr/>
          <p:nvPr/>
        </p:nvSpPr>
        <p:spPr>
          <a:xfrm>
            <a:off x="852253" y="4236260"/>
            <a:ext cx="10546298" cy="9527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4D5CBC-085F-D5BB-EF30-1DEB3C660561}"/>
              </a:ext>
            </a:extLst>
          </p:cNvPr>
          <p:cNvSpPr txBox="1"/>
          <p:nvPr/>
        </p:nvSpPr>
        <p:spPr>
          <a:xfrm>
            <a:off x="982885" y="4399383"/>
            <a:ext cx="9354509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ea typeface="+mn-lt"/>
                <a:cs typeface="+mn-lt"/>
              </a:rPr>
              <a:t>This is what separates </a:t>
            </a:r>
            <a:r>
              <a:rPr lang="en-US" sz="1600" dirty="0" err="1">
                <a:ea typeface="+mn-lt"/>
                <a:cs typeface="+mn-lt"/>
              </a:rPr>
              <a:t>LoRA</a:t>
            </a:r>
            <a:r>
              <a:rPr lang="en-US" sz="1600" dirty="0">
                <a:ea typeface="+mn-lt"/>
                <a:cs typeface="+mn-lt"/>
              </a:rPr>
              <a:t> from adapter layers, which insert an extra module that must run on every forward pass forever. A </a:t>
            </a:r>
            <a:r>
              <a:rPr lang="en-US" sz="1600" dirty="0" err="1">
                <a:ea typeface="+mn-lt"/>
                <a:cs typeface="+mn-lt"/>
              </a:rPr>
              <a:t>LoRA</a:t>
            </a:r>
            <a:r>
              <a:rPr lang="en-US" sz="1600" dirty="0">
                <a:ea typeface="+mn-lt"/>
                <a:cs typeface="+mn-lt"/>
              </a:rPr>
              <a:t> adapter can be folded away entirely once training ends.</a:t>
            </a:r>
            <a:endParaRPr lang="en-US" sz="160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415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49986-3D4D-00D6-23EB-6B569CB0F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566" y="235027"/>
            <a:ext cx="10515600" cy="1325563"/>
          </a:xfrm>
        </p:spPr>
        <p:txBody>
          <a:bodyPr/>
          <a:lstStyle/>
          <a:p>
            <a:r>
              <a:rPr lang="en-US" sz="3200" b="1">
                <a:ea typeface="+mj-lt"/>
                <a:cs typeface="+mj-lt"/>
              </a:rPr>
              <a:t>Eleven runs, one variable at a time</a:t>
            </a:r>
            <a:endParaRPr lang="en-US" sz="3200"/>
          </a:p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1239AAF-7B47-5A4C-2DEB-FF8E5CD8AE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-88" b="-314"/>
          <a:stretch>
            <a:fillRect/>
          </a:stretch>
        </p:blipFill>
        <p:spPr>
          <a:xfrm>
            <a:off x="503663" y="1104250"/>
            <a:ext cx="10970946" cy="29784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BE7E85-97B3-F273-A279-AE9A67FCF17B}"/>
              </a:ext>
            </a:extLst>
          </p:cNvPr>
          <p:cNvSpPr txBox="1"/>
          <p:nvPr/>
        </p:nvSpPr>
        <p:spPr>
          <a:xfrm>
            <a:off x="576147" y="5947317"/>
            <a:ext cx="10874296" cy="889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+mn-lt"/>
                <a:cs typeface="+mn-lt"/>
              </a:rPr>
              <a:t>Figure 2. Everything else — data, sequence length, batch size, optimizer, schedule, seed — is held identical across all eleven.</a:t>
            </a:r>
            <a:endParaRPr lang="en-US" sz="1600"/>
          </a:p>
          <a:p>
            <a:pPr algn="l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FCD08E-46A4-1916-0E5C-2C5D6BDCCD9D}"/>
              </a:ext>
            </a:extLst>
          </p:cNvPr>
          <p:cNvSpPr/>
          <p:nvPr/>
        </p:nvSpPr>
        <p:spPr>
          <a:xfrm>
            <a:off x="511098" y="4460488"/>
            <a:ext cx="11141925" cy="8549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B4CC71-5220-6A98-E2A7-6EEF21227B40}"/>
              </a:ext>
            </a:extLst>
          </p:cNvPr>
          <p:cNvSpPr txBox="1"/>
          <p:nvPr/>
        </p:nvSpPr>
        <p:spPr>
          <a:xfrm>
            <a:off x="594732" y="4590586"/>
            <a:ext cx="10892882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+mn-lt"/>
                <a:cs typeface="+mn-lt"/>
              </a:rPr>
              <a:t>The learning rates differ on purpose. 1e-5 is standard for full fine-tuning; 2e-4 is standard for adapters, which train a much smaller subspace. Using one rate for both would have handicapped whichever method it suited less.</a:t>
            </a:r>
            <a:endParaRPr lang="en-US" sz="160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824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5BF7A-5A0C-562F-AC55-691898A95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298" y="2710"/>
            <a:ext cx="11711382" cy="898100"/>
          </a:xfrm>
        </p:spPr>
        <p:txBody>
          <a:bodyPr>
            <a:normAutofit/>
          </a:bodyPr>
          <a:lstStyle/>
          <a:p>
            <a:r>
              <a:rPr lang="en-US" sz="3200" b="1">
                <a:ea typeface="+mj-lt"/>
                <a:cs typeface="+mj-lt"/>
              </a:rPr>
              <a:t>Accuracy barely moves; adapters average 2 points above full FT</a:t>
            </a:r>
            <a:endParaRPr lang="en-US" sz="320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182AF38-7581-15A4-87CB-7B3A2D0F00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2249" y="906139"/>
            <a:ext cx="10478429" cy="402511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CFA9A0C-A81A-8EAC-C8C3-63B9CE0F1EFB}"/>
              </a:ext>
            </a:extLst>
          </p:cNvPr>
          <p:cNvSpPr/>
          <p:nvPr/>
        </p:nvSpPr>
        <p:spPr>
          <a:xfrm>
            <a:off x="492512" y="4934414"/>
            <a:ext cx="11219985" cy="914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CA1B4E-FF46-AD10-85A3-80174A922A33}"/>
              </a:ext>
            </a:extLst>
          </p:cNvPr>
          <p:cNvSpPr txBox="1"/>
          <p:nvPr/>
        </p:nvSpPr>
        <p:spPr>
          <a:xfrm>
            <a:off x="483219" y="6226097"/>
            <a:ext cx="1121812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/>
              <a:t>Figure 3. Execution accuracy on 1,000 held-out questions. p on each bar: paired McNemar test against full_ft.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DCECDC-3C25-4714-A112-3E232DA393E6}"/>
              </a:ext>
            </a:extLst>
          </p:cNvPr>
          <p:cNvSpPr txBox="1"/>
          <p:nvPr/>
        </p:nvSpPr>
        <p:spPr>
          <a:xfrm>
            <a:off x="520389" y="5036632"/>
            <a:ext cx="11190248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+mn-lt"/>
                <a:cs typeface="+mn-lt"/>
              </a:rPr>
              <a:t>Every model answered the same questions, so the test must be paired. Averaged over the ten adapters, full fine-tuning is 2.0 points lower (paired p = 0.013). Full FT vs LoRA r=8: unpaired p = 0.17 misses it; paired p = 0.011 finds it, but not after Holm correction for 55 pairs (p = 0.59).</a:t>
            </a:r>
            <a:br>
              <a:rPr lang="en-US" sz="1600" dirty="0">
                <a:ea typeface="+mn-lt"/>
                <a:cs typeface="+mn-lt"/>
              </a:rPr>
            </a:br>
            <a:r>
              <a:rPr lang="en-US" sz="1600" dirty="0">
                <a:ea typeface="+mn-lt"/>
                <a:cs typeface="+mn-lt"/>
              </a:rPr>
              <a:t> </a:t>
            </a:r>
            <a:endParaRPr lang="en-US" sz="160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803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D1768-4B1D-D953-E69D-D1348EBF7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737" y="58467"/>
            <a:ext cx="10255405" cy="1000319"/>
          </a:xfrm>
        </p:spPr>
        <p:txBody>
          <a:bodyPr/>
          <a:lstStyle/>
          <a:p>
            <a:r>
              <a:rPr lang="en-US" sz="3200" b="1">
                <a:ea typeface="+mj-lt"/>
                <a:cs typeface="+mj-lt"/>
              </a:rPr>
              <a:t>...while the cost of getting there differs by 707×</a:t>
            </a:r>
            <a:endParaRPr lang="en-US" sz="320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49B8C37-D1A4-0C82-1B81-4C6EAE4F39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8466" y="1379576"/>
            <a:ext cx="9675067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476B0D-BD91-3ADB-FB85-1267118614EE}"/>
              </a:ext>
            </a:extLst>
          </p:cNvPr>
          <p:cNvSpPr txBox="1"/>
          <p:nvPr/>
        </p:nvSpPr>
        <p:spPr>
          <a:xfrm>
            <a:off x="353122" y="5938024"/>
            <a:ext cx="11496907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+mn-lt"/>
                <a:cs typeface="+mn-lt"/>
              </a:rPr>
              <a:t>Figure 4. Same eleven runs, plotted against what each costs to store per task. Horizontal position spans nearly three orders of magnitude; vertical position barely moves.</a:t>
            </a:r>
            <a:endParaRPr lang="en-US" sz="160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0394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645AC-87B8-25EB-A3A3-8FF6B1856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420" y="365125"/>
            <a:ext cx="6352478" cy="786588"/>
          </a:xfrm>
        </p:spPr>
        <p:txBody>
          <a:bodyPr>
            <a:normAutofit/>
          </a:bodyPr>
          <a:lstStyle/>
          <a:p>
            <a:r>
              <a:rPr lang="en-US" sz="3200" b="1">
                <a:ea typeface="+mj-lt"/>
                <a:cs typeface="+mj-lt"/>
              </a:rPr>
              <a:t>Full fine-tuning finished last</a:t>
            </a:r>
            <a:endParaRPr lang="en-US" sz="32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8138CA-5485-1877-CD32-84EFA53F8515}"/>
              </a:ext>
            </a:extLst>
          </p:cNvPr>
          <p:cNvSpPr/>
          <p:nvPr/>
        </p:nvSpPr>
        <p:spPr>
          <a:xfrm>
            <a:off x="566853" y="1375317"/>
            <a:ext cx="5365594" cy="32561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6C7377-B8AE-BC3E-4EAC-19F24FE3B96F}"/>
              </a:ext>
            </a:extLst>
          </p:cNvPr>
          <p:cNvSpPr/>
          <p:nvPr/>
        </p:nvSpPr>
        <p:spPr>
          <a:xfrm>
            <a:off x="6226097" y="1375317"/>
            <a:ext cx="5365594" cy="325615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F8F0E0-BC62-3628-8A64-445844F52C1A}"/>
              </a:ext>
            </a:extLst>
          </p:cNvPr>
          <p:cNvSpPr txBox="1"/>
          <p:nvPr/>
        </p:nvSpPr>
        <p:spPr>
          <a:xfrm>
            <a:off x="594732" y="5222487"/>
            <a:ext cx="11013687" cy="92332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4D0B50-7C13-798E-9616-92024F20D30C}"/>
              </a:ext>
            </a:extLst>
          </p:cNvPr>
          <p:cNvSpPr txBox="1"/>
          <p:nvPr/>
        </p:nvSpPr>
        <p:spPr>
          <a:xfrm>
            <a:off x="687658" y="5408341"/>
            <a:ext cx="10837126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i="1" dirty="0">
                <a:ea typeface="+mn-lt"/>
                <a:cs typeface="+mn-lt"/>
              </a:rPr>
              <a:t>Paired over the same questions, full fine-tuning is 2.0 points below the adapters’ average (p = 0.013). With one seed and one learning rate, this is evidence about this setup, not proof that </a:t>
            </a:r>
            <a:r>
              <a:rPr lang="en-US" sz="1600" i="1" dirty="0" err="1">
                <a:ea typeface="+mn-lt"/>
                <a:cs typeface="+mn-lt"/>
              </a:rPr>
              <a:t>LoRA</a:t>
            </a:r>
            <a:r>
              <a:rPr lang="en-US" sz="1600" i="1" dirty="0">
                <a:ea typeface="+mn-lt"/>
                <a:cs typeface="+mn-lt"/>
              </a:rPr>
              <a:t> beats full fine-tuning in general.</a:t>
            </a:r>
            <a:endParaRPr lang="en-US" sz="1600"/>
          </a:p>
          <a:p>
            <a:pPr algn="l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355DCF-E2E6-D37A-70F7-7CA4C05E3A83}"/>
              </a:ext>
            </a:extLst>
          </p:cNvPr>
          <p:cNvSpPr txBox="1"/>
          <p:nvPr/>
        </p:nvSpPr>
        <p:spPr>
          <a:xfrm>
            <a:off x="1059366" y="2313877"/>
            <a:ext cx="4369418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+mn-lt"/>
                <a:cs typeface="+mn-lt"/>
              </a:rPr>
              <a:t>75.4% execution accuracy — the lowest of the eleven.</a:t>
            </a:r>
            <a:endParaRPr lang="en-US" sz="1600" dirty="0">
              <a:ea typeface="+mn-lt"/>
              <a:cs typeface="+mn-lt"/>
            </a:endParaRPr>
          </a:p>
          <a:p>
            <a:br>
              <a:rPr lang="en-US" sz="1600" dirty="0">
                <a:ea typeface="+mn-lt"/>
                <a:cs typeface="+mn-lt"/>
              </a:rPr>
            </a:br>
            <a:r>
              <a:rPr lang="en-US" sz="1600">
                <a:ea typeface="+mn-lt"/>
                <a:cs typeface="+mn-lt"/>
              </a:rPr>
              <a:t>7.62B trainable parameters.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76.4 GB peak memory.</a:t>
            </a:r>
            <a:endParaRPr lang="en-US" sz="1600" dirty="0"/>
          </a:p>
          <a:p>
            <a:r>
              <a:rPr lang="en-US" sz="1600">
                <a:ea typeface="+mn-lt"/>
                <a:cs typeface="+mn-lt"/>
              </a:rPr>
              <a:t>15.24 GB checkpoint.</a:t>
            </a:r>
            <a:endParaRPr lang="en-US" sz="1600" dirty="0"/>
          </a:p>
          <a:p>
            <a:r>
              <a:rPr lang="en-US" sz="1600">
                <a:ea typeface="+mn-lt"/>
                <a:cs typeface="+mn-lt"/>
              </a:rPr>
              <a:t>87 minutes of H200 time.</a:t>
            </a:r>
            <a:endParaRPr lang="en-US" sz="1600" dirty="0"/>
          </a:p>
          <a:p>
            <a:pPr algn="l"/>
            <a:endParaRPr 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995BE4-1352-C750-C562-8DC08325BEEE}"/>
              </a:ext>
            </a:extLst>
          </p:cNvPr>
          <p:cNvSpPr txBox="1"/>
          <p:nvPr/>
        </p:nvSpPr>
        <p:spPr>
          <a:xfrm>
            <a:off x="1059365" y="1709851"/>
            <a:ext cx="417427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</a:rPr>
              <a:t>full_ft</a:t>
            </a:r>
            <a:endParaRPr lang="en-US">
              <a:solidFill>
                <a:srgbClr val="C00000"/>
              </a:solidFill>
            </a:endParaRPr>
          </a:p>
          <a:p>
            <a:pPr algn="l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7AFC46-B6E0-D4C6-8064-0E3F8042E31F}"/>
              </a:ext>
            </a:extLst>
          </p:cNvPr>
          <p:cNvSpPr txBox="1"/>
          <p:nvPr/>
        </p:nvSpPr>
        <p:spPr>
          <a:xfrm>
            <a:off x="6755781" y="1681975"/>
            <a:ext cx="438800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accent6">
                    <a:lumMod val="76000"/>
                  </a:schemeClr>
                </a:solidFill>
                <a:ea typeface="+mn-lt"/>
                <a:cs typeface="+mn-lt"/>
              </a:rPr>
              <a:t>lora_r8</a:t>
            </a:r>
            <a:endParaRPr lang="en-US">
              <a:solidFill>
                <a:schemeClr val="accent6">
                  <a:lumMod val="76000"/>
                </a:schemeClr>
              </a:solidFill>
            </a:endParaRPr>
          </a:p>
          <a:p>
            <a:pPr algn="l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34C767-6BF7-971E-94F8-F03B0826A6E3}"/>
              </a:ext>
            </a:extLst>
          </p:cNvPr>
          <p:cNvSpPr txBox="1"/>
          <p:nvPr/>
        </p:nvSpPr>
        <p:spPr>
          <a:xfrm>
            <a:off x="6700025" y="2267415"/>
            <a:ext cx="4453053" cy="20928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+mn-lt"/>
                <a:cs typeface="+mn-lt"/>
              </a:rPr>
              <a:t>78.0% execution accuracy — within 0.3 of the best.</a:t>
            </a:r>
            <a:endParaRPr lang="en-US" sz="1600" dirty="0"/>
          </a:p>
          <a:p>
            <a:endParaRPr lang="en-US" dirty="0"/>
          </a:p>
          <a:p>
            <a:r>
              <a:rPr lang="en-US" sz="1600">
                <a:ea typeface="+mn-lt"/>
                <a:cs typeface="+mn-lt"/>
              </a:rPr>
              <a:t>5.05M trainable parameters.</a:t>
            </a:r>
            <a:endParaRPr lang="en-US" sz="1600" dirty="0"/>
          </a:p>
          <a:p>
            <a:r>
              <a:rPr lang="en-US" sz="1600">
                <a:ea typeface="+mn-lt"/>
                <a:cs typeface="+mn-lt"/>
              </a:rPr>
              <a:t>23.1 GB peak memory.</a:t>
            </a:r>
            <a:endParaRPr lang="en-US" sz="1600" dirty="0"/>
          </a:p>
          <a:p>
            <a:r>
              <a:rPr lang="en-US" sz="1600">
                <a:ea typeface="+mn-lt"/>
                <a:cs typeface="+mn-lt"/>
              </a:rPr>
              <a:t>0.032 GB checkpoint.</a:t>
            </a:r>
            <a:endParaRPr lang="en-US" sz="1600" dirty="0"/>
          </a:p>
          <a:p>
            <a:r>
              <a:rPr lang="en-US" sz="1600">
                <a:ea typeface="+mn-lt"/>
                <a:cs typeface="+mn-lt"/>
              </a:rPr>
              <a:t>72 minutes of H200 time.</a:t>
            </a:r>
            <a:endParaRPr lang="en-US" sz="1600" dirty="0"/>
          </a:p>
          <a:p>
            <a:pPr algn="l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961303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6DC5E-2891-D4FA-E8E8-D1759C1E4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4" y="365125"/>
            <a:ext cx="9068348" cy="766398"/>
          </a:xfrm>
        </p:spPr>
        <p:txBody>
          <a:bodyPr/>
          <a:lstStyle/>
          <a:p>
            <a:r>
              <a:rPr lang="en-US" sz="3600" b="1" dirty="0" err="1">
                <a:ea typeface="+mj-lt"/>
                <a:cs typeface="+mj-lt"/>
              </a:rPr>
              <a:t>QLoRA</a:t>
            </a:r>
            <a:r>
              <a:rPr lang="en-US" sz="3600" b="1" dirty="0">
                <a:ea typeface="+mj-lt"/>
                <a:cs typeface="+mj-lt"/>
              </a:rPr>
              <a:t> </a:t>
            </a:r>
            <a:r>
              <a:rPr lang="en-US" sz="3600" b="1" dirty="0" err="1">
                <a:ea typeface="+mj-lt"/>
                <a:cs typeface="+mj-lt"/>
              </a:rPr>
              <a:t>quantises</a:t>
            </a:r>
            <a:r>
              <a:rPr lang="en-US" sz="3600" b="1">
                <a:ea typeface="+mj-lt"/>
                <a:cs typeface="+mj-lt"/>
              </a:rPr>
              <a:t> the frozen base to 4 bits</a:t>
            </a:r>
            <a:endParaRPr lang="en-US" sz="3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FDBC6F-1158-71BC-7C33-2B57405CD7E0}"/>
              </a:ext>
            </a:extLst>
          </p:cNvPr>
          <p:cNvSpPr txBox="1"/>
          <p:nvPr/>
        </p:nvSpPr>
        <p:spPr>
          <a:xfrm>
            <a:off x="443106" y="1125016"/>
            <a:ext cx="11212912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ea typeface="+mn-lt"/>
                <a:cs typeface="+mn-lt"/>
              </a:rPr>
              <a:t>The base model never trains, so precision lost there costs far less than precision lost in the adapters being </a:t>
            </a:r>
            <a:r>
              <a:rPr lang="en-US" sz="1600" dirty="0" err="1">
                <a:ea typeface="+mn-lt"/>
                <a:cs typeface="+mn-lt"/>
              </a:rPr>
              <a:t>optimised</a:t>
            </a:r>
            <a:r>
              <a:rPr lang="en-US" sz="1600" dirty="0">
                <a:ea typeface="+mn-lt"/>
                <a:cs typeface="+mn-lt"/>
              </a:rPr>
              <a:t>.</a:t>
            </a:r>
            <a:endParaRPr lang="en-US" sz="1600"/>
          </a:p>
          <a:p>
            <a:pPr algn="l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D3F535-E2E7-4909-10CB-11A9FD116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110" y="1730531"/>
            <a:ext cx="3578147" cy="14175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9917015-32DD-251C-CF4A-A859C7D15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0726" y="1711770"/>
            <a:ext cx="3578147" cy="14175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8C354A-EB66-EA02-0D90-C1C3B1FF9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0720" y="1750519"/>
            <a:ext cx="3578147" cy="14175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541D9DB-6BD7-D38D-75B8-CD4F40498A33}"/>
              </a:ext>
            </a:extLst>
          </p:cNvPr>
          <p:cNvSpPr txBox="1"/>
          <p:nvPr/>
        </p:nvSpPr>
        <p:spPr>
          <a:xfrm>
            <a:off x="464634" y="3568390"/>
            <a:ext cx="11180954" cy="774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FAC81C-7E1D-F72C-66ED-54650D760700}"/>
              </a:ext>
            </a:extLst>
          </p:cNvPr>
          <p:cNvSpPr txBox="1"/>
          <p:nvPr/>
        </p:nvSpPr>
        <p:spPr>
          <a:xfrm>
            <a:off x="529683" y="3614853"/>
            <a:ext cx="10985808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 err="1">
                <a:ea typeface="+mn-lt"/>
                <a:cs typeface="+mn-lt"/>
              </a:rPr>
              <a:t>QLoRA</a:t>
            </a:r>
            <a:r>
              <a:rPr lang="en-US" sz="1600" dirty="0">
                <a:ea typeface="+mn-lt"/>
                <a:cs typeface="+mn-lt"/>
              </a:rPr>
              <a:t> saves a further 5.7 GB over </a:t>
            </a:r>
            <a:r>
              <a:rPr lang="en-US" sz="1600" dirty="0" err="1">
                <a:ea typeface="+mn-lt"/>
                <a:cs typeface="+mn-lt"/>
              </a:rPr>
              <a:t>LoRA</a:t>
            </a:r>
            <a:r>
              <a:rPr lang="en-US" sz="1600" dirty="0">
                <a:ea typeface="+mn-lt"/>
                <a:cs typeface="+mn-lt"/>
              </a:rPr>
              <a:t> — real, but a much smaller step than the 53 GB </a:t>
            </a:r>
            <a:r>
              <a:rPr lang="en-US" sz="1600" dirty="0" err="1">
                <a:ea typeface="+mn-lt"/>
                <a:cs typeface="+mn-lt"/>
              </a:rPr>
              <a:t>LoRA</a:t>
            </a:r>
            <a:r>
              <a:rPr lang="en-US" sz="1600" dirty="0">
                <a:ea typeface="+mn-lt"/>
                <a:cs typeface="+mn-lt"/>
              </a:rPr>
              <a:t> already saved over full fine-tuning. The big win is the first one.</a:t>
            </a:r>
            <a:endParaRPr lang="en-US" sz="1600"/>
          </a:p>
          <a:p>
            <a:pPr algn="l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03CD41-6CFE-61C4-5EB9-CBBDB2C2956F}"/>
              </a:ext>
            </a:extLst>
          </p:cNvPr>
          <p:cNvSpPr txBox="1"/>
          <p:nvPr/>
        </p:nvSpPr>
        <p:spPr>
          <a:xfrm>
            <a:off x="436756" y="4850780"/>
            <a:ext cx="11431858" cy="914028"/>
          </a:xfrm>
          <a:prstGeom prst="rect">
            <a:avLst/>
          </a:prstGeom>
          <a:solidFill>
            <a:schemeClr val="bg2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EAFC54-2087-FB4E-429A-3BE4BB66AC10}"/>
              </a:ext>
            </a:extLst>
          </p:cNvPr>
          <p:cNvSpPr txBox="1"/>
          <p:nvPr/>
        </p:nvSpPr>
        <p:spPr>
          <a:xfrm>
            <a:off x="529683" y="5008756"/>
            <a:ext cx="11060150" cy="8803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ea typeface="+mn-lt"/>
                <a:cs typeface="+mn-lt"/>
              </a:rPr>
              <a:t>Accuracy cost of that </a:t>
            </a:r>
            <a:r>
              <a:rPr lang="en-US" sz="1600" dirty="0" err="1">
                <a:ea typeface="+mn-lt"/>
                <a:cs typeface="+mn-lt"/>
              </a:rPr>
              <a:t>quantisation</a:t>
            </a:r>
            <a:r>
              <a:rPr lang="en-US" sz="1600" dirty="0">
                <a:ea typeface="+mn-lt"/>
                <a:cs typeface="+mn-lt"/>
              </a:rPr>
              <a:t>: none detectable. </a:t>
            </a:r>
            <a:r>
              <a:rPr lang="en-US" sz="1600" dirty="0" err="1">
                <a:ea typeface="+mn-lt"/>
                <a:cs typeface="+mn-lt"/>
              </a:rPr>
              <a:t>QLoRA's</a:t>
            </a:r>
            <a:r>
              <a:rPr lang="en-US" sz="1600" dirty="0">
                <a:ea typeface="+mn-lt"/>
                <a:cs typeface="+mn-lt"/>
              </a:rPr>
              <a:t> five runs average 77.5% against </a:t>
            </a:r>
            <a:r>
              <a:rPr lang="en-US" sz="1600" dirty="0" err="1">
                <a:ea typeface="+mn-lt"/>
                <a:cs typeface="+mn-lt"/>
              </a:rPr>
              <a:t>LoRA's</a:t>
            </a:r>
            <a:r>
              <a:rPr lang="en-US" sz="1600" dirty="0">
                <a:ea typeface="+mn-lt"/>
                <a:cs typeface="+mn-lt"/>
              </a:rPr>
              <a:t> 77.3%, and at each rank a paired test finds no difference (p = 0.10–0.82).</a:t>
            </a:r>
          </a:p>
          <a:p>
            <a:pPr algn="l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1BE328-E5F9-26D9-E3C0-0388EED96BF0}"/>
              </a:ext>
            </a:extLst>
          </p:cNvPr>
          <p:cNvSpPr txBox="1"/>
          <p:nvPr/>
        </p:nvSpPr>
        <p:spPr>
          <a:xfrm>
            <a:off x="1263804" y="1756318"/>
            <a:ext cx="222281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Full fine-tuning</a:t>
            </a:r>
            <a:endParaRPr lang="en-US"/>
          </a:p>
          <a:p>
            <a:pPr algn="l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5070DB-5F07-8EF5-74C1-331594443E57}"/>
              </a:ext>
            </a:extLst>
          </p:cNvPr>
          <p:cNvSpPr txBox="1"/>
          <p:nvPr/>
        </p:nvSpPr>
        <p:spPr>
          <a:xfrm>
            <a:off x="5408340" y="1709853"/>
            <a:ext cx="188827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>
                <a:ea typeface="+mn-lt"/>
                <a:cs typeface="+mn-lt"/>
              </a:rPr>
              <a:t>LoRA</a:t>
            </a:r>
            <a:r>
              <a:rPr lang="en-US" b="1" dirty="0">
                <a:ea typeface="+mn-lt"/>
                <a:cs typeface="+mn-lt"/>
              </a:rPr>
              <a:t> r=4</a:t>
            </a:r>
            <a:endParaRPr lang="en-US" dirty="0"/>
          </a:p>
          <a:p>
            <a:pPr algn="l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323A39-8A59-9C5D-DD8C-7C914020F7F9}"/>
              </a:ext>
            </a:extLst>
          </p:cNvPr>
          <p:cNvSpPr txBox="1"/>
          <p:nvPr/>
        </p:nvSpPr>
        <p:spPr>
          <a:xfrm>
            <a:off x="9032488" y="1719146"/>
            <a:ext cx="167268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QLoRA r=4</a:t>
            </a:r>
          </a:p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B8491D-1945-461B-AB6D-A762AE99DCFD}"/>
              </a:ext>
            </a:extLst>
          </p:cNvPr>
          <p:cNvSpPr txBox="1"/>
          <p:nvPr/>
        </p:nvSpPr>
        <p:spPr>
          <a:xfrm>
            <a:off x="1514707" y="2360341"/>
            <a:ext cx="145151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76.4 GB</a:t>
            </a:r>
            <a:endParaRPr lang="en-US"/>
          </a:p>
          <a:p>
            <a:pPr algn="l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F27FA5-8683-B296-D4C9-0F496836F553}"/>
              </a:ext>
            </a:extLst>
          </p:cNvPr>
          <p:cNvSpPr txBox="1"/>
          <p:nvPr/>
        </p:nvSpPr>
        <p:spPr>
          <a:xfrm>
            <a:off x="5575609" y="2360340"/>
            <a:ext cx="155373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accent6"/>
                </a:solidFill>
                <a:ea typeface="+mn-lt"/>
                <a:cs typeface="+mn-lt"/>
              </a:rPr>
              <a:t>23.1 GB</a:t>
            </a:r>
            <a:endParaRPr lang="en-US">
              <a:solidFill>
                <a:schemeClr val="accent6"/>
              </a:solidFill>
            </a:endParaRPr>
          </a:p>
          <a:p>
            <a:pPr algn="l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B52C4D-8F8A-B1BF-9A6D-A322B5053AD4}"/>
              </a:ext>
            </a:extLst>
          </p:cNvPr>
          <p:cNvSpPr txBox="1"/>
          <p:nvPr/>
        </p:nvSpPr>
        <p:spPr>
          <a:xfrm>
            <a:off x="9171879" y="2416097"/>
            <a:ext cx="208341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accent2"/>
                </a:solidFill>
                <a:ea typeface="+mn-lt"/>
                <a:cs typeface="+mn-lt"/>
              </a:rPr>
              <a:t>17.4 GB</a:t>
            </a:r>
            <a:endParaRPr lang="en-US">
              <a:solidFill>
                <a:schemeClr val="accent2"/>
              </a:solidFill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748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2F33F-7E6F-7BA9-CCA5-57808E907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79" y="365125"/>
            <a:ext cx="7950819" cy="749417"/>
          </a:xfrm>
        </p:spPr>
        <p:txBody>
          <a:bodyPr>
            <a:normAutofit/>
          </a:bodyPr>
          <a:lstStyle/>
          <a:p>
            <a:r>
              <a:rPr lang="en-US" sz="3200" b="1">
                <a:ea typeface="+mj-lt"/>
                <a:cs typeface="+mj-lt"/>
              </a:rPr>
              <a:t>NF4: the same four bits, spent differently</a:t>
            </a:r>
            <a:endParaRPr lang="en-US" sz="320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3A7C34-B507-3A24-03AE-ED42207572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8102" y="1833337"/>
            <a:ext cx="10515600" cy="318362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EBA4E23-5184-D1B7-F264-1B38DC430961}"/>
              </a:ext>
            </a:extLst>
          </p:cNvPr>
          <p:cNvSpPr/>
          <p:nvPr/>
        </p:nvSpPr>
        <p:spPr>
          <a:xfrm>
            <a:off x="566854" y="5157438"/>
            <a:ext cx="11043424" cy="110954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4E125F-6EB5-4C00-9D83-7F12BA21B162}"/>
              </a:ext>
            </a:extLst>
          </p:cNvPr>
          <p:cNvSpPr txBox="1"/>
          <p:nvPr/>
        </p:nvSpPr>
        <p:spPr>
          <a:xfrm>
            <a:off x="715537" y="5166732"/>
            <a:ext cx="10874295" cy="11265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ea typeface="+mn-lt"/>
                <a:cs typeface="+mn-lt"/>
              </a:rPr>
              <a:t>Neural network weights cluster near zero, roughly normally. NF4 places its sixteen levels so each bucket carries about equal probability mass — so the error lands where the weights actually are, instead of being spread evenly across a range that is mostly empty.</a:t>
            </a:r>
            <a:endParaRPr lang="en-US" sz="160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005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5FB8D-32B1-4753-7DF0-43F5C456B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151" y="272198"/>
            <a:ext cx="8861503" cy="916685"/>
          </a:xfrm>
        </p:spPr>
        <p:txBody>
          <a:bodyPr>
            <a:normAutofit/>
          </a:bodyPr>
          <a:lstStyle/>
          <a:p>
            <a:r>
              <a:rPr lang="en-US" sz="3600" b="1">
                <a:ea typeface="+mj-lt"/>
                <a:cs typeface="+mj-lt"/>
              </a:rPr>
              <a:t>What each method holds in GPU memory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0B11F24-3359-A625-8CAB-984F852624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0932" y="1346863"/>
            <a:ext cx="10515600" cy="417515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CDA7B36-8288-17C2-90F8-612CFD183594}"/>
              </a:ext>
            </a:extLst>
          </p:cNvPr>
          <p:cNvSpPr/>
          <p:nvPr/>
        </p:nvSpPr>
        <p:spPr>
          <a:xfrm>
            <a:off x="631902" y="5529146"/>
            <a:ext cx="10913326" cy="96086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CE863B-6098-080A-CD03-944ACAFFA973}"/>
              </a:ext>
            </a:extLst>
          </p:cNvPr>
          <p:cNvSpPr txBox="1"/>
          <p:nvPr/>
        </p:nvSpPr>
        <p:spPr>
          <a:xfrm>
            <a:off x="687659" y="5687122"/>
            <a:ext cx="10521174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ea typeface="+mn-lt"/>
                <a:cs typeface="+mn-lt"/>
              </a:rPr>
              <a:t>Freezing the weights removes the gradient buffer and both Adam buffers at once — three blocks, not one. </a:t>
            </a:r>
            <a:r>
              <a:rPr lang="en-US" sz="1600" dirty="0" err="1">
                <a:ea typeface="+mn-lt"/>
                <a:cs typeface="+mn-lt"/>
              </a:rPr>
              <a:t>Quantising</a:t>
            </a:r>
            <a:r>
              <a:rPr lang="en-US" sz="1600" dirty="0">
                <a:ea typeface="+mn-lt"/>
                <a:cs typeface="+mn-lt"/>
              </a:rPr>
              <a:t> the frozen weights then shrinks what is left of the base. Activations are unchanged by either.</a:t>
            </a:r>
            <a:endParaRPr lang="en-US" sz="160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0998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DC936-3DD9-D367-5173-476344E70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566" y="290784"/>
            <a:ext cx="9995210" cy="768003"/>
          </a:xfrm>
        </p:spPr>
        <p:txBody>
          <a:bodyPr>
            <a:normAutofit/>
          </a:bodyPr>
          <a:lstStyle/>
          <a:p>
            <a:r>
              <a:rPr lang="en-US" sz="3600" b="1">
                <a:ea typeface="+mj-lt"/>
                <a:cs typeface="+mj-lt"/>
              </a:rPr>
              <a:t>The arithmetic, checked against the measurement</a:t>
            </a:r>
            <a:endParaRPr lang="en-US" sz="360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7D7B899-5B91-35D4-611B-124FA103AA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0932" y="1263788"/>
            <a:ext cx="10515600" cy="41554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230F124-9B17-9C01-6A80-CE55A35F75AD}"/>
              </a:ext>
            </a:extLst>
          </p:cNvPr>
          <p:cNvSpPr/>
          <p:nvPr/>
        </p:nvSpPr>
        <p:spPr>
          <a:xfrm>
            <a:off x="631903" y="5417634"/>
            <a:ext cx="10820399" cy="9236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17C168-00EB-660D-11E0-B1DD4F2A94AF}"/>
              </a:ext>
            </a:extLst>
          </p:cNvPr>
          <p:cNvSpPr txBox="1"/>
          <p:nvPr/>
        </p:nvSpPr>
        <p:spPr>
          <a:xfrm>
            <a:off x="771292" y="5473389"/>
            <a:ext cx="10651272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+mn-lt"/>
                <a:cs typeface="+mn-lt"/>
              </a:rPr>
              <a:t>Four buffers of identical size, one per parameter. Freezing the weights deletes three of them and leaves only the first — which is why the drop from 76.4 GB to 23.1 GB is so much larger than the drop from 23.1 to 17.4.</a:t>
            </a:r>
            <a:endParaRPr lang="en-US" sz="160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3715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EF2EA-F9A8-13A6-EA4D-16931D2EC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908" y="365125"/>
            <a:ext cx="10013795" cy="842344"/>
          </a:xfrm>
        </p:spPr>
        <p:txBody>
          <a:bodyPr>
            <a:normAutofit/>
          </a:bodyPr>
          <a:lstStyle/>
          <a:p>
            <a:r>
              <a:rPr lang="en-US" sz="3600" b="1" dirty="0">
                <a:ea typeface="+mj-lt"/>
                <a:cs typeface="+mj-lt"/>
              </a:rPr>
              <a:t>The bit budget, including what </a:t>
            </a:r>
            <a:r>
              <a:rPr lang="en-US" sz="3600" b="1" dirty="0" err="1">
                <a:ea typeface="+mj-lt"/>
                <a:cs typeface="+mj-lt"/>
              </a:rPr>
              <a:t>quantisation</a:t>
            </a:r>
            <a:r>
              <a:rPr lang="en-US" sz="3600" b="1" dirty="0">
                <a:ea typeface="+mj-lt"/>
                <a:cs typeface="+mj-lt"/>
              </a:rPr>
              <a:t> costs</a:t>
            </a:r>
            <a:endParaRPr lang="en-US" sz="36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DF3C724-8B07-4443-5B13-007C191D4A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18010"/>
            <a:ext cx="10515600" cy="40090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CD1902-BEC7-10B3-BDFE-2CED3E43D24A}"/>
              </a:ext>
            </a:extLst>
          </p:cNvPr>
          <p:cNvSpPr txBox="1"/>
          <p:nvPr/>
        </p:nvSpPr>
        <p:spPr>
          <a:xfrm>
            <a:off x="446049" y="5993781"/>
            <a:ext cx="1110661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ea typeface="+mn-lt"/>
                <a:cs typeface="+mn-lt"/>
              </a:rPr>
              <a:t>Figure 8. Double </a:t>
            </a:r>
            <a:r>
              <a:rPr lang="en-US" sz="1400" dirty="0" err="1">
                <a:ea typeface="+mn-lt"/>
                <a:cs typeface="+mn-lt"/>
              </a:rPr>
              <a:t>quantisation</a:t>
            </a:r>
            <a:r>
              <a:rPr lang="en-US" sz="1400" dirty="0">
                <a:ea typeface="+mn-lt"/>
                <a:cs typeface="+mn-lt"/>
              </a:rPr>
              <a:t> is a second-order saving — 0.373 bits per parameter — which is small per weight and 355 MB across this model.</a:t>
            </a:r>
            <a:endParaRPr lang="en-US" sz="140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6695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87259-32E4-7A0D-9A0F-C92EE97F5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566" y="365125"/>
            <a:ext cx="9103113" cy="65649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ea typeface="+mj-lt"/>
                <a:cs typeface="+mj-lt"/>
              </a:rPr>
              <a:t>But </a:t>
            </a:r>
            <a:r>
              <a:rPr lang="en-US" b="1" dirty="0" err="1">
                <a:ea typeface="+mj-lt"/>
                <a:cs typeface="+mj-lt"/>
              </a:rPr>
              <a:t>QLoRA</a:t>
            </a:r>
            <a:r>
              <a:rPr lang="en-US" b="1" dirty="0">
                <a:ea typeface="+mj-lt"/>
                <a:cs typeface="+mj-lt"/>
              </a:rPr>
              <a:t> is the slowest of the three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B6DD85D-3366-1540-2435-D0C93D2B32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3761" y="1244509"/>
            <a:ext cx="10515600" cy="36922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77A31D9-DBE5-8447-680A-21AF3ED663CE}"/>
              </a:ext>
            </a:extLst>
          </p:cNvPr>
          <p:cNvSpPr/>
          <p:nvPr/>
        </p:nvSpPr>
        <p:spPr>
          <a:xfrm>
            <a:off x="622609" y="5203902"/>
            <a:ext cx="10755352" cy="80288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BFC246-64EA-D14F-B410-18556148381A}"/>
              </a:ext>
            </a:extLst>
          </p:cNvPr>
          <p:cNvSpPr txBox="1"/>
          <p:nvPr/>
        </p:nvSpPr>
        <p:spPr>
          <a:xfrm>
            <a:off x="650489" y="5203902"/>
            <a:ext cx="1050258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 err="1">
                <a:ea typeface="+mn-lt"/>
                <a:cs typeface="+mn-lt"/>
              </a:rPr>
              <a:t>LoRA</a:t>
            </a:r>
            <a:r>
              <a:rPr lang="en-US" sz="1400" dirty="0">
                <a:ea typeface="+mn-lt"/>
                <a:cs typeface="+mn-lt"/>
              </a:rPr>
              <a:t> averages 72 minutes, full fine-tuning 87, </a:t>
            </a:r>
            <a:r>
              <a:rPr lang="en-US" sz="1400" dirty="0" err="1">
                <a:ea typeface="+mn-lt"/>
                <a:cs typeface="+mn-lt"/>
              </a:rPr>
              <a:t>QLoRA</a:t>
            </a:r>
            <a:r>
              <a:rPr lang="en-US" sz="1400" dirty="0">
                <a:ea typeface="+mn-lt"/>
                <a:cs typeface="+mn-lt"/>
              </a:rPr>
              <a:t> 98. Every forward pass has to </a:t>
            </a:r>
            <a:r>
              <a:rPr lang="en-US" sz="1400" dirty="0" err="1">
                <a:ea typeface="+mn-lt"/>
                <a:cs typeface="+mn-lt"/>
              </a:rPr>
              <a:t>dequantise</a:t>
            </a:r>
            <a:r>
              <a:rPr lang="en-US" sz="1400" dirty="0">
                <a:ea typeface="+mn-lt"/>
                <a:cs typeface="+mn-lt"/>
              </a:rPr>
              <a:t> 4-bit weights back to bf16 before the </a:t>
            </a:r>
            <a:r>
              <a:rPr lang="en-US" sz="1400" dirty="0" err="1">
                <a:ea typeface="+mn-lt"/>
                <a:cs typeface="+mn-lt"/>
              </a:rPr>
              <a:t>matmul</a:t>
            </a:r>
            <a:r>
              <a:rPr lang="en-US" sz="1400" dirty="0">
                <a:ea typeface="+mn-lt"/>
                <a:cs typeface="+mn-lt"/>
              </a:rPr>
              <a:t>, and that overhead is paid on every step. </a:t>
            </a:r>
            <a:r>
              <a:rPr lang="en-US" sz="1400" dirty="0" err="1">
                <a:ea typeface="+mn-lt"/>
                <a:cs typeface="+mn-lt"/>
              </a:rPr>
              <a:t>QLoRA</a:t>
            </a:r>
            <a:r>
              <a:rPr lang="en-US" sz="1400" dirty="0">
                <a:ea typeface="+mn-lt"/>
                <a:cs typeface="+mn-lt"/>
              </a:rPr>
              <a:t> buys memory with time — it is not a free improvement on </a:t>
            </a:r>
            <a:r>
              <a:rPr lang="en-US" sz="1400" dirty="0" err="1">
                <a:ea typeface="+mn-lt"/>
                <a:cs typeface="+mn-lt"/>
              </a:rPr>
              <a:t>LoRA</a:t>
            </a:r>
            <a:r>
              <a:rPr lang="en-US" sz="1400" dirty="0">
                <a:ea typeface="+mn-lt"/>
                <a:cs typeface="+mn-lt"/>
              </a:rPr>
              <a:t>.</a:t>
            </a:r>
            <a:br>
              <a:rPr lang="en-US" sz="1400" dirty="0">
                <a:ea typeface="+mn-lt"/>
                <a:cs typeface="+mn-lt"/>
              </a:rPr>
            </a:br>
            <a:r>
              <a:rPr lang="en-US" sz="1400" dirty="0">
                <a:ea typeface="+mn-lt"/>
                <a:cs typeface="+mn-lt"/>
              </a:rPr>
              <a:t> </a:t>
            </a:r>
            <a:endParaRPr lang="en-US" sz="1400"/>
          </a:p>
          <a:p>
            <a:pPr algn="l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4B69EA-0D42-1D78-33C8-BA7B02F23EF7}"/>
              </a:ext>
            </a:extLst>
          </p:cNvPr>
          <p:cNvSpPr txBox="1"/>
          <p:nvPr/>
        </p:nvSpPr>
        <p:spPr>
          <a:xfrm>
            <a:off x="659782" y="6161048"/>
            <a:ext cx="1070702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ea typeface="+mn-lt"/>
                <a:cs typeface="+mn-lt"/>
              </a:rPr>
              <a:t>Figure 5. Wall-clock training time, measured on the same H200 for all eleven runs.</a:t>
            </a:r>
            <a:endParaRPr lang="en-US" sz="140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9779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457EB-63DE-04E3-A6DB-F06B060D5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79" y="365125"/>
            <a:ext cx="8991600" cy="730832"/>
          </a:xfrm>
        </p:spPr>
        <p:txBody>
          <a:bodyPr>
            <a:normAutofit/>
          </a:bodyPr>
          <a:lstStyle/>
          <a:p>
            <a:r>
              <a:rPr lang="en-US" sz="3200" b="1">
                <a:ea typeface="+mj-lt"/>
                <a:cs typeface="+mj-lt"/>
              </a:rPr>
              <a:t>The base you serve on is part of the method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5471BAE-3A6D-959B-52E6-7A7250B708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4895" y="1100796"/>
            <a:ext cx="10013137" cy="435133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09E187E-3DA1-18C9-8F19-97CBF9A21795}"/>
              </a:ext>
            </a:extLst>
          </p:cNvPr>
          <p:cNvSpPr/>
          <p:nvPr/>
        </p:nvSpPr>
        <p:spPr>
          <a:xfrm>
            <a:off x="483220" y="5594194"/>
            <a:ext cx="10931911" cy="914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A7866A-8F6B-F8BB-79FA-A8A0C112559E}"/>
              </a:ext>
            </a:extLst>
          </p:cNvPr>
          <p:cNvSpPr txBox="1"/>
          <p:nvPr/>
        </p:nvSpPr>
        <p:spPr>
          <a:xfrm>
            <a:off x="743414" y="5594194"/>
            <a:ext cx="10400370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ea typeface="+mn-lt"/>
                <a:cs typeface="+mn-lt"/>
              </a:rPr>
              <a:t>Take a </a:t>
            </a:r>
            <a:r>
              <a:rPr lang="en-US" sz="1600" dirty="0" err="1">
                <a:ea typeface="+mn-lt"/>
                <a:cs typeface="+mn-lt"/>
              </a:rPr>
              <a:t>QLoRA</a:t>
            </a:r>
            <a:r>
              <a:rPr lang="en-US" sz="1600" dirty="0">
                <a:ea typeface="+mn-lt"/>
                <a:cs typeface="+mn-lt"/>
              </a:rPr>
              <a:t> adapter trained against a 4-bit base, serve it on the bf16 base instead, and it loses 1.02 points on average (paired test over all five ranks, p = 0.009). Each rank drops. For scale, </a:t>
            </a:r>
            <a:r>
              <a:rPr lang="en-US" sz="1600" dirty="0" err="1">
                <a:ea typeface="+mn-lt"/>
                <a:cs typeface="+mn-lt"/>
              </a:rPr>
              <a:t>LoRA</a:t>
            </a:r>
            <a:r>
              <a:rPr lang="en-US" sz="1600" dirty="0">
                <a:ea typeface="+mn-lt"/>
                <a:cs typeface="+mn-lt"/>
              </a:rPr>
              <a:t> and full fine-tuning differ by 0.17 between two generation passes, which sets the noise floor. The adapter learned to correct a </a:t>
            </a:r>
            <a:r>
              <a:rPr lang="en-US" sz="1600" dirty="0" err="1">
                <a:ea typeface="+mn-lt"/>
                <a:cs typeface="+mn-lt"/>
              </a:rPr>
              <a:t>quantised</a:t>
            </a:r>
            <a:r>
              <a:rPr lang="en-US" sz="1600" dirty="0">
                <a:ea typeface="+mn-lt"/>
                <a:cs typeface="+mn-lt"/>
              </a:rPr>
              <a:t> model — move it and the correction is slightly wrong.</a:t>
            </a:r>
            <a:endParaRPr lang="en-US" sz="1600" dirty="0"/>
          </a:p>
          <a:p>
            <a:pPr algn="l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852892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A0505-C2F7-707D-B6B0-68A3F1EC9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78" y="346540"/>
            <a:ext cx="8489796" cy="675076"/>
          </a:xfrm>
        </p:spPr>
        <p:txBody>
          <a:bodyPr>
            <a:normAutofit/>
          </a:bodyPr>
          <a:lstStyle/>
          <a:p>
            <a:r>
              <a:rPr lang="en-US" sz="3600" b="1" dirty="0">
                <a:ea typeface="+mj-lt"/>
                <a:cs typeface="+mj-lt"/>
              </a:rPr>
              <a:t>How often does that actually happen?</a:t>
            </a:r>
            <a:endParaRPr lang="en-US" sz="36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C0273F8-7459-3661-51BE-F4492B455F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0932" y="1372250"/>
            <a:ext cx="10543478" cy="20521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DF933F-ADFE-BDA3-2435-CBB8437E5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341" y="3762577"/>
            <a:ext cx="10221952" cy="17117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443B39-22D1-B894-2FA6-C6CADBBD788B}"/>
              </a:ext>
            </a:extLst>
          </p:cNvPr>
          <p:cNvSpPr txBox="1"/>
          <p:nvPr/>
        </p:nvSpPr>
        <p:spPr>
          <a:xfrm>
            <a:off x="845635" y="5928731"/>
            <a:ext cx="10995100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ea typeface="+mn-lt"/>
                <a:cs typeface="+mn-lt"/>
              </a:rPr>
              <a:t>Figure 7. The 48 is the number that matters for method choice: on those questions, text-match scoring would have reported a failure that did not exist.</a:t>
            </a:r>
            <a:endParaRPr lang="en-US" sz="140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0112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ABC44-E1DE-78FA-C3D2-02D22D49A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445" y="365125"/>
            <a:ext cx="7718502" cy="656490"/>
          </a:xfrm>
        </p:spPr>
        <p:txBody>
          <a:bodyPr>
            <a:normAutofit/>
          </a:bodyPr>
          <a:lstStyle/>
          <a:p>
            <a:r>
              <a:rPr lang="en-US" sz="3600" b="1">
                <a:ea typeface="+mj-lt"/>
                <a:cs typeface="+mj-lt"/>
              </a:rPr>
              <a:t>What this does not claim</a:t>
            </a:r>
            <a:endParaRPr lang="en-US" sz="36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8A9164-1B2E-A405-3E1A-A2EA67F89A30}"/>
              </a:ext>
            </a:extLst>
          </p:cNvPr>
          <p:cNvSpPr txBox="1"/>
          <p:nvPr/>
        </p:nvSpPr>
        <p:spPr>
          <a:xfrm>
            <a:off x="418171" y="1338146"/>
            <a:ext cx="1135751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One task, one model, one dataset</a:t>
            </a:r>
            <a:br>
              <a:rPr lang="en-US" b="1" dirty="0">
                <a:ea typeface="+mn-lt"/>
                <a:cs typeface="+mn-lt"/>
              </a:rPr>
            </a:br>
            <a:br>
              <a:rPr lang="en-US" b="1" dirty="0">
                <a:ea typeface="+mn-lt"/>
                <a:cs typeface="+mn-lt"/>
              </a:rPr>
            </a:br>
            <a:r>
              <a:rPr lang="en-US" dirty="0" err="1">
                <a:ea typeface="+mn-lt"/>
                <a:cs typeface="+mn-lt"/>
              </a:rPr>
              <a:t>WikiSQL</a:t>
            </a:r>
            <a:r>
              <a:rPr lang="en-US" dirty="0">
                <a:ea typeface="+mn-lt"/>
                <a:cs typeface="+mn-lt"/>
              </a:rPr>
              <a:t> on Qwen2.5-7B-Instruct. Schema-constrained SQL generation is a narrow, well-structured task — these results may not survive on open-ended generation, long-context reasoning, or a domain further from pretraining.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EBBA9B-EF8A-FB55-4227-F9C112B442AD}"/>
              </a:ext>
            </a:extLst>
          </p:cNvPr>
          <p:cNvSpPr txBox="1"/>
          <p:nvPr/>
        </p:nvSpPr>
        <p:spPr>
          <a:xfrm>
            <a:off x="576147" y="3103756"/>
            <a:ext cx="1130175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Paired tests see only one kind of noise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McNemar and the paired bootstrap cover which questions were sampled, not training noise. And 55 pairwise tests give ~3 false positives by chance; </a:t>
            </a:r>
            <a:r>
              <a:rPr lang="en-US">
                <a:ea typeface="+mn-lt"/>
                <a:cs typeface="+mn-lt"/>
              </a:rPr>
              <a:t>none survive a Holm correction.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402D99-B89B-E94C-2F29-0A8FA4047208}"/>
              </a:ext>
            </a:extLst>
          </p:cNvPr>
          <p:cNvSpPr txBox="1"/>
          <p:nvPr/>
        </p:nvSpPr>
        <p:spPr>
          <a:xfrm>
            <a:off x="538976" y="4850780"/>
            <a:ext cx="1133893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Single seed per variant</a:t>
            </a:r>
            <a:br>
              <a:rPr lang="en-US" b="1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Every run used seed 42, and full fine-tuning one learning rate. Run-to-run variance is not measured, so the 2-point gap may be partly seed or tuning, not method.</a:t>
            </a:r>
            <a:endParaRPr lang="en-US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9362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75F43-41B9-D5EC-CA1D-22BE4E3C1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175" y="142101"/>
            <a:ext cx="7225992" cy="489223"/>
          </a:xfrm>
        </p:spPr>
        <p:txBody>
          <a:bodyPr>
            <a:normAutofit fontScale="90000"/>
          </a:bodyPr>
          <a:lstStyle/>
          <a:p>
            <a:r>
              <a:rPr lang="en-US" sz="3200" b="1">
                <a:ea typeface="+mj-lt"/>
                <a:cs typeface="+mj-lt"/>
              </a:rPr>
              <a:t>Four things the measurements settled</a:t>
            </a:r>
            <a:endParaRPr lang="en-US" sz="32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03DD82-712D-3302-E62F-5E6EB9F36E79}"/>
              </a:ext>
            </a:extLst>
          </p:cNvPr>
          <p:cNvSpPr/>
          <p:nvPr/>
        </p:nvSpPr>
        <p:spPr>
          <a:xfrm>
            <a:off x="364141" y="1119398"/>
            <a:ext cx="107893" cy="74176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325383-F195-3C00-55D2-8727B9E68009}"/>
              </a:ext>
            </a:extLst>
          </p:cNvPr>
          <p:cNvSpPr/>
          <p:nvPr/>
        </p:nvSpPr>
        <p:spPr>
          <a:xfrm>
            <a:off x="364141" y="2141593"/>
            <a:ext cx="107893" cy="74176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5B902C-DE49-ADD2-E51D-85EB9FB72EC2}"/>
              </a:ext>
            </a:extLst>
          </p:cNvPr>
          <p:cNvSpPr/>
          <p:nvPr/>
        </p:nvSpPr>
        <p:spPr>
          <a:xfrm>
            <a:off x="364140" y="3061568"/>
            <a:ext cx="107893" cy="74176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24F2F4-0432-208A-631A-0EA2B05AD958}"/>
              </a:ext>
            </a:extLst>
          </p:cNvPr>
          <p:cNvSpPr/>
          <p:nvPr/>
        </p:nvSpPr>
        <p:spPr>
          <a:xfrm>
            <a:off x="364140" y="4018714"/>
            <a:ext cx="107893" cy="74176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AC83CF-69FC-162B-9E38-A3E0287FFAD8}"/>
              </a:ext>
            </a:extLst>
          </p:cNvPr>
          <p:cNvSpPr txBox="1"/>
          <p:nvPr/>
        </p:nvSpPr>
        <p:spPr>
          <a:xfrm>
            <a:off x="767509" y="1119643"/>
            <a:ext cx="10660564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ea typeface="+mn-lt"/>
                <a:cs typeface="+mn-lt"/>
              </a:rPr>
              <a:t>Cost and quality are not coupled here</a:t>
            </a:r>
            <a:br>
              <a:rPr lang="en-US" sz="1600" b="1" dirty="0">
                <a:ea typeface="+mn-lt"/>
                <a:cs typeface="+mn-lt"/>
              </a:rPr>
            </a:br>
            <a:r>
              <a:rPr lang="en-US" sz="1600" b="1" dirty="0">
                <a:ea typeface="+mn-lt"/>
                <a:cs typeface="+mn-lt"/>
              </a:rPr>
              <a:t> </a:t>
            </a:r>
            <a:endParaRPr lang="en-US" sz="1600" dirty="0"/>
          </a:p>
          <a:p>
            <a:r>
              <a:rPr lang="en-US" sz="1600">
                <a:ea typeface="+mn-lt"/>
                <a:cs typeface="+mn-lt"/>
              </a:rPr>
              <a:t>707× more storage, 3.3× more memory, and 2.0 points lower accuracy (paired p = 0.013)</a:t>
            </a:r>
            <a:endParaRPr lang="en-US" sz="1600" dirty="0"/>
          </a:p>
          <a:p>
            <a:pPr algn="l"/>
            <a:endParaRPr lang="en-US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181EE1-8E6A-4827-5714-8C3005F4C24C}"/>
              </a:ext>
            </a:extLst>
          </p:cNvPr>
          <p:cNvSpPr txBox="1"/>
          <p:nvPr/>
        </p:nvSpPr>
        <p:spPr>
          <a:xfrm>
            <a:off x="769862" y="2062261"/>
            <a:ext cx="1068844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>
                <a:ea typeface="+mn-lt"/>
                <a:cs typeface="+mn-lt"/>
              </a:rPr>
              <a:t>The first step is the big one</a:t>
            </a:r>
            <a:br>
              <a:rPr lang="en-US" sz="1600" b="1" dirty="0">
                <a:ea typeface="+mn-lt"/>
                <a:cs typeface="+mn-lt"/>
              </a:rPr>
            </a:br>
            <a:r>
              <a:rPr lang="en-US" sz="1600" b="1" dirty="0">
                <a:ea typeface="+mn-lt"/>
                <a:cs typeface="+mn-lt"/>
              </a:rPr>
              <a:t> </a:t>
            </a:r>
            <a:br>
              <a:rPr lang="en-US" sz="1600" b="1" dirty="0">
                <a:ea typeface="+mn-lt"/>
                <a:cs typeface="+mn-lt"/>
              </a:rPr>
            </a:br>
            <a:r>
              <a:rPr lang="en-US" sz="1600" dirty="0">
                <a:ea typeface="+mn-lt"/>
                <a:cs typeface="+mn-lt"/>
              </a:rPr>
              <a:t>Full → </a:t>
            </a:r>
            <a:r>
              <a:rPr lang="en-US" sz="1600" dirty="0" err="1">
                <a:ea typeface="+mn-lt"/>
                <a:cs typeface="+mn-lt"/>
              </a:rPr>
              <a:t>LoRA</a:t>
            </a:r>
            <a:r>
              <a:rPr lang="en-US" sz="1600" dirty="0">
                <a:ea typeface="+mn-lt"/>
                <a:cs typeface="+mn-lt"/>
              </a:rPr>
              <a:t> saves 53 GB. </a:t>
            </a:r>
            <a:r>
              <a:rPr lang="en-US" sz="1600" dirty="0" err="1">
                <a:ea typeface="+mn-lt"/>
                <a:cs typeface="+mn-lt"/>
              </a:rPr>
              <a:t>LoRA</a:t>
            </a:r>
            <a:r>
              <a:rPr lang="en-US" sz="1600" dirty="0">
                <a:ea typeface="+mn-lt"/>
                <a:cs typeface="+mn-lt"/>
              </a:rPr>
              <a:t> → </a:t>
            </a:r>
            <a:r>
              <a:rPr lang="en-US" sz="1600" dirty="0" err="1">
                <a:ea typeface="+mn-lt"/>
                <a:cs typeface="+mn-lt"/>
              </a:rPr>
              <a:t>QLoRA</a:t>
            </a:r>
            <a:r>
              <a:rPr lang="en-US" sz="1600" dirty="0">
                <a:ea typeface="+mn-lt"/>
                <a:cs typeface="+mn-lt"/>
              </a:rPr>
              <a:t> saves another 5.7 — and costs 26 minutes per run to do it.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C2F7D8-4335-5370-028F-8F2B5C8999FA}"/>
              </a:ext>
            </a:extLst>
          </p:cNvPr>
          <p:cNvSpPr txBox="1"/>
          <p:nvPr/>
        </p:nvSpPr>
        <p:spPr>
          <a:xfrm>
            <a:off x="777488" y="3021552"/>
            <a:ext cx="1105085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>
                <a:ea typeface="+mn-lt"/>
                <a:cs typeface="+mn-lt"/>
              </a:rPr>
              <a:t>Serve on the base you trained against</a:t>
            </a:r>
            <a:br>
              <a:rPr lang="en-US" sz="1600" b="1" dirty="0">
                <a:ea typeface="+mn-lt"/>
                <a:cs typeface="+mn-lt"/>
              </a:rPr>
            </a:br>
            <a:r>
              <a:rPr lang="en-US" sz="1600" b="1" dirty="0">
                <a:ea typeface="+mn-lt"/>
                <a:cs typeface="+mn-lt"/>
              </a:rPr>
              <a:t> </a:t>
            </a:r>
            <a:br>
              <a:rPr lang="en-US" sz="1600" b="1" dirty="0">
                <a:ea typeface="+mn-lt"/>
                <a:cs typeface="+mn-lt"/>
              </a:rPr>
            </a:br>
            <a:r>
              <a:rPr lang="en-US" sz="1600" dirty="0" err="1">
                <a:ea typeface="+mn-lt"/>
                <a:cs typeface="+mn-lt"/>
              </a:rPr>
              <a:t>QLoRA</a:t>
            </a:r>
            <a:r>
              <a:rPr lang="en-US" sz="1600" dirty="0">
                <a:ea typeface="+mn-lt"/>
                <a:cs typeface="+mn-lt"/>
              </a:rPr>
              <a:t> adapters lose a measurable point on a mismatched base. It is part of the method, not a deployment detail.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924634-2152-4BE8-5531-13B375B39E6B}"/>
              </a:ext>
            </a:extLst>
          </p:cNvPr>
          <p:cNvSpPr txBox="1"/>
          <p:nvPr/>
        </p:nvSpPr>
        <p:spPr>
          <a:xfrm>
            <a:off x="774390" y="3924610"/>
            <a:ext cx="1047471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>
                <a:ea typeface="+mn-lt"/>
                <a:cs typeface="+mn-lt"/>
              </a:rPr>
              <a:t>Score what you actually care about</a:t>
            </a:r>
            <a:br>
              <a:rPr lang="en-US" sz="1600" b="1" dirty="0">
                <a:ea typeface="+mn-lt"/>
                <a:cs typeface="+mn-lt"/>
              </a:rPr>
            </a:br>
            <a:r>
              <a:rPr lang="en-US" sz="1600" b="1" dirty="0">
                <a:ea typeface="+mn-lt"/>
                <a:cs typeface="+mn-lt"/>
              </a:rPr>
              <a:t> 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48 of 1,000 were right for all eleven despite different SQL; exact match marks some of them wrong.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4024597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What Fine - Tuning Actually Costs ?</vt:lpstr>
      <vt:lpstr>Does spending more on fine-tuning buy you more?</vt:lpstr>
      <vt:lpstr>Qwen2.5-7B-Instruct, by the numbers</vt:lpstr>
      <vt:lpstr>Why the four adapted matrices aren't the same size</vt:lpstr>
      <vt:lpstr>Full fine-tuning hits a wall you can measure</vt:lpstr>
      <vt:lpstr>Freeze the model, train a low-rank correction</vt:lpstr>
      <vt:lpstr>The arithmetic behind the saving</vt:lpstr>
      <vt:lpstr>Why it trains stably: scaling and initialisation </vt:lpstr>
      <vt:lpstr>What that looks like on a real matrix</vt:lpstr>
      <vt:lpstr>Which matrices actually get adapted</vt:lpstr>
      <vt:lpstr>And it costs nothing at inference </vt:lpstr>
      <vt:lpstr>Eleven runs, one variable at a time </vt:lpstr>
      <vt:lpstr>Accuracy is flat across all eleven</vt:lpstr>
      <vt:lpstr>...while the cost of getting there differs by 707×</vt:lpstr>
      <vt:lpstr>Full fine-tuning finished last</vt:lpstr>
      <vt:lpstr>QLoRA quantises the frozen base to 4 bits</vt:lpstr>
      <vt:lpstr>NF4: the same four bits, spent differently</vt:lpstr>
      <vt:lpstr>What each method holds in GPU memory</vt:lpstr>
      <vt:lpstr>The arithmetic, checked against the measurement</vt:lpstr>
      <vt:lpstr>The bit budget, including what quantisation costs</vt:lpstr>
      <vt:lpstr>But QLoRA is the slowest of the three</vt:lpstr>
      <vt:lpstr>The base you serve on is part of the method</vt:lpstr>
      <vt:lpstr>How often does that actually happen?</vt:lpstr>
      <vt:lpstr>What this does not claim</vt:lpstr>
      <vt:lpstr>Four things the measurements settled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922</cp:revision>
  <dcterms:created xsi:type="dcterms:W3CDTF">2026-08-31T19:41:48Z</dcterms:created>
  <dcterms:modified xsi:type="dcterms:W3CDTF">2026-09-02T19:49:36Z</dcterms:modified>
</cp:coreProperties>
</file>